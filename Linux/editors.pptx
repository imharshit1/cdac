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1"/>
  </p:notesMasterIdLst>
  <p:sldIdLst>
    <p:sldId id="27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74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393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591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108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F1480F-3B15-C025-630A-7C5421F81312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F1480F-3B15-C025-630A-7C5421F81312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615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6DA0-0369-467E-BB54-1234C4CBA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61DF5-963B-40D2-AB45-7D33A91FA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CC64C-B040-4B9F-9083-944AB145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96D1-2A3F-4676-A322-E3806C75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7E5F8-232B-49AF-AC18-36BD8B33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1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E8E4-02EB-415A-87CD-4BEFE879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A798-9D2A-44B6-9B08-C925EE786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2E65-9C0D-48D4-93AF-46ABA680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42251-A8C6-485B-9C07-637D7BE6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E634E-986B-47B1-9BC6-1434363F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2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0F63-B39A-48EA-A6AB-E8C0B205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4B09E-72AB-411B-A655-8A38CBB06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462E8-F356-4425-80C3-15BAA225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4FCBB-3A97-4F9E-803B-EB5B4920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ADFCA-C700-4ADC-B359-29A1127B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9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E560-EC0B-458E-AD9D-C3EF60BB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14360-B8CF-4D53-B327-5222F889F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88356-0072-4130-96B4-112C39FB5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2CD3A-4D31-4ACD-AA7E-1BDE2B04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F41CE-BC37-4C54-B0AB-5483CD6C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17BC0-280B-4DE4-9147-4193492B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7D1A-7625-4867-AA29-A81FBFF8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C2F2B-4540-4A09-9A2C-AB77AF1B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89F04-B829-4C6F-91EA-372EF6BC2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B6A9D-C4D9-42F4-A9A7-93B61D3F5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737F4-AB15-48C0-AD14-7ED3DA855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DA52E-E4ED-41AC-81AD-7057DBB7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68675-F7A6-4BBF-AFCF-9B1596DB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44BB0-E58B-4F14-B86F-60798A29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7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AAF-2EE1-46B7-9DFD-F66C1435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E6101-61D5-4B7B-80E0-821BDC27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2887B-437C-4A8D-A468-6C34A62C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5E2A-A6A3-44E2-85F1-10B84C71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5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0F6B2-E940-4A37-8C06-C88D781A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1410C-055E-4B1A-BE50-86BF2EC3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39C0E-0CFC-4C1D-AF65-3F1BB7AF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41B0-ED37-462A-9BD5-77033786A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4E20-11B6-4EDC-BB50-7890CE3DD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5B42E-3AEC-40E1-BFA5-26161B95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D7F59-7B88-4697-9282-A7648FF5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B5B3-93BD-41F8-90EB-ABD376AE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4876-BF48-47F1-94CB-B3259F68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2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9354-C234-410F-B41C-84166440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C1D4D-16C3-4632-9FED-8FFEB4254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3B8C-9E29-4CFB-A774-C571937C8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D94D1-55E9-4305-A488-B90F265D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A9B9-E3C3-408A-BE90-AB8262C0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22D6E-9532-4695-9214-840BA7B1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0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DE7A-5ABD-499B-B2F2-623746B9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3C3ED-4CAE-4721-947A-DA03473FA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5F8A-EF71-4D98-A83B-9573EE69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65E65-2179-42AA-BD67-783E642E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4607-C4DD-4C65-A24A-191422D0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18E5B-2D0C-4624-89A7-7958185DD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9DCF1-D46C-4F3A-8797-C25315C65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CB81B-1F15-43D3-ACD6-6D33F1E8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5C6AC-8033-48C6-909A-A6790778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62F59-EDEE-4CF5-AE83-ED1EC96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3F0E9-0FC2-4DDE-87CF-3BA6A04EA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4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86076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952398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562269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333032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0569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3124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4252309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976441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9207261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3118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28577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49714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0580823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737226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878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870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803337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93712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6776791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93061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7912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790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28615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5923287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299562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202814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2294811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35668781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410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80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745387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287401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7235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8078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1448789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3350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21853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3352041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4931936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3488240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527452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7722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34472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401396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7933915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006941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7569373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3689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4330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134536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25807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70157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355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460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0203250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9574259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5435258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3739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59136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19868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266937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58224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016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162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2579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59882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720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60283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36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876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0912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2795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64082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8706672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211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50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0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13788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446676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07244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9321456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9902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153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77235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29149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65098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96159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35321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509124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64858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45863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582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1963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07544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8679408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9027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6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9297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5101486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4066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27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284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95920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13738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317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6949407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21746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296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502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7267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578394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7304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15399147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6258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047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581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559738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93730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3775529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2684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96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1340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4060225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4390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754236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0161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39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33032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723125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9927220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578993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46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53449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35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73613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3558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714156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402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3888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722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713784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3242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5056921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3521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0402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69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787680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7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872413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3270273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012355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734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305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0606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662792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7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7149773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7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171843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1104376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872033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20455801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45410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9379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39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8299661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8247534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5761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20534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1590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9676843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3620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8854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79092" name="Title 1"/>
          <p:cNvSpPr>
            <a:spLocks noGrp="1"/>
          </p:cNvSpPr>
          <p:nvPr>
            <p:ph type="title"/>
          </p:nvPr>
        </p:nvSpPr>
        <p:spPr bwMode="auto">
          <a:xfrm>
            <a:off x="1583497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98240681" name="Content Placeholder 2"/>
          <p:cNvSpPr>
            <a:spLocks noGrp="1"/>
          </p:cNvSpPr>
          <p:nvPr>
            <p:ph idx="1"/>
          </p:nvPr>
        </p:nvSpPr>
        <p:spPr bwMode="auto">
          <a:xfrm>
            <a:off x="5327913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553841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6103845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074132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843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76389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045832" name="Title 1"/>
          <p:cNvSpPr>
            <a:spLocks noGrp="1"/>
          </p:cNvSpPr>
          <p:nvPr>
            <p:ph type="title"/>
          </p:nvPr>
        </p:nvSpPr>
        <p:spPr bwMode="auto">
          <a:xfrm>
            <a:off x="1583497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1478357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7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555926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7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444530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6031935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172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0479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026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4972627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952162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4753295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898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4316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5788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57112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79690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/>
          </a:p>
        </p:txBody>
      </p:sp>
      <p:sp>
        <p:nvSpPr>
          <p:cNvPr id="125525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52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402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428C1-4402-43DF-BE1B-FAC75225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BCA76-B870-47F2-A74A-7D730A95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62B7-0189-4809-8A92-84A406195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0616-DB42-4665-BB54-2B274359D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2C70-6973-444D-B30F-229699B53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 smtClean="0"/>
              <a:t>‹#›</a:t>
            </a:fld>
            <a:endParaRPr/>
          </a:p>
        </p:txBody>
      </p:sp>
      <p:sp>
        <p:nvSpPr>
          <p:cNvPr id="7" name="Shape 1058">
            <a:extLst>
              <a:ext uri="{FF2B5EF4-FFF2-40B4-BE49-F238E27FC236}">
                <a16:creationId xmlns:a16="http://schemas.microsoft.com/office/drawing/2014/main" id="{97739066-5E49-4B48-80A6-CB1E4AAAD29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59">
            <a:extLst>
              <a:ext uri="{FF2B5EF4-FFF2-40B4-BE49-F238E27FC236}">
                <a16:creationId xmlns:a16="http://schemas.microsoft.com/office/drawing/2014/main" id="{F5676268-D941-4E14-99A1-467AF438B6DB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9" name="Shape 1060">
            <a:extLst>
              <a:ext uri="{FF2B5EF4-FFF2-40B4-BE49-F238E27FC236}">
                <a16:creationId xmlns:a16="http://schemas.microsoft.com/office/drawing/2014/main" id="{13889FDF-7470-4C85-AFA5-8AB85345987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061">
            <a:extLst>
              <a:ext uri="{FF2B5EF4-FFF2-40B4-BE49-F238E27FC236}">
                <a16:creationId xmlns:a16="http://schemas.microsoft.com/office/drawing/2014/main" id="{3D56EE19-2605-4F22-9954-BAE178CC4CE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062">
            <a:extLst>
              <a:ext uri="{FF2B5EF4-FFF2-40B4-BE49-F238E27FC236}">
                <a16:creationId xmlns:a16="http://schemas.microsoft.com/office/drawing/2014/main" id="{E1F897B8-70B3-471B-9227-C875780F758D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063">
            <a:extLst>
              <a:ext uri="{FF2B5EF4-FFF2-40B4-BE49-F238E27FC236}">
                <a16:creationId xmlns:a16="http://schemas.microsoft.com/office/drawing/2014/main" id="{B5E07724-007E-43FF-91DC-7F7324674971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064">
            <a:extLst>
              <a:ext uri="{FF2B5EF4-FFF2-40B4-BE49-F238E27FC236}">
                <a16:creationId xmlns:a16="http://schemas.microsoft.com/office/drawing/2014/main" id="{5945EFFB-8DE0-4A6A-AB88-70E17BAFE2E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065">
            <a:extLst>
              <a:ext uri="{FF2B5EF4-FFF2-40B4-BE49-F238E27FC236}">
                <a16:creationId xmlns:a16="http://schemas.microsoft.com/office/drawing/2014/main" id="{3478AD50-9B99-49F3-A2CF-3F2629FE54A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066">
            <a:extLst>
              <a:ext uri="{FF2B5EF4-FFF2-40B4-BE49-F238E27FC236}">
                <a16:creationId xmlns:a16="http://schemas.microsoft.com/office/drawing/2014/main" id="{E1091768-3752-48C0-B328-1EA0F3E4A79D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067">
            <a:extLst>
              <a:ext uri="{FF2B5EF4-FFF2-40B4-BE49-F238E27FC236}">
                <a16:creationId xmlns:a16="http://schemas.microsoft.com/office/drawing/2014/main" id="{E226A6B0-7915-41C3-983B-70C68280B561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068">
            <a:extLst>
              <a:ext uri="{FF2B5EF4-FFF2-40B4-BE49-F238E27FC236}">
                <a16:creationId xmlns:a16="http://schemas.microsoft.com/office/drawing/2014/main" id="{2295DA0F-DCCD-4CDC-BC87-D43441E6592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069">
            <a:extLst>
              <a:ext uri="{FF2B5EF4-FFF2-40B4-BE49-F238E27FC236}">
                <a16:creationId xmlns:a16="http://schemas.microsoft.com/office/drawing/2014/main" id="{F9BAFDCB-9EC5-4796-889C-2F526F765D1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070">
            <a:extLst>
              <a:ext uri="{FF2B5EF4-FFF2-40B4-BE49-F238E27FC236}">
                <a16:creationId xmlns:a16="http://schemas.microsoft.com/office/drawing/2014/main" id="{451142E9-7B2C-4129-B708-1AB0FE99D4B0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6944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3596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947953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3111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 lang="en-US"/>
              <a:t>09-Sep-26</a:t>
            </a:fld>
            <a:endParaRPr lang="en-US"/>
          </a:p>
        </p:txBody>
      </p:sp>
      <p:sp>
        <p:nvSpPr>
          <p:cNvPr id="20706258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13082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857509221" name="Shape 105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81021620" name="Shape 105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1928360171" name="Shape 106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04888084" name="Shape 1061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0045847" name="Shape 1062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8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5150927" name="Shape 1063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3101397" name="Shape 1064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387942" name="Shape 1065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63737535" name="Shape 1066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7825763" name="Shape 1067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91221264" name="Shape 1068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2083106" name="Shape 1069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1706101" name="Shape 1070"/>
          <p:cNvSpPr>
            <a:spLocks noGrp="1" noChangeArrowheads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3471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</p:sldLayoutIdLst>
  <p:hf sldNum="0"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691227" name="Title 1"/>
          <p:cNvSpPr>
            <a:spLocks noGrp="1"/>
          </p:cNvSpPr>
          <p:nvPr>
            <p:ph type="ctrTitle"/>
          </p:nvPr>
        </p:nvSpPr>
        <p:spPr bwMode="auto">
          <a:xfrm>
            <a:off x="2023335" y="4104867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Algerian"/>
              </a:rPr>
              <a:t>Linux editors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E8840-6451-49B9-A8A6-C91FEA58A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28" y="638274"/>
            <a:ext cx="47625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3591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11056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Algerian"/>
              </a:rPr>
              <a:t>Linux Editors</a:t>
            </a:r>
            <a:endParaRPr dirty="0"/>
          </a:p>
        </p:txBody>
      </p:sp>
      <p:sp>
        <p:nvSpPr>
          <p:cNvPr id="6782434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6119" y="2219699"/>
            <a:ext cx="10764169" cy="3333766"/>
          </a:xfrm>
        </p:spPr>
        <p:txBody>
          <a:bodyPr>
            <a:normAutofit/>
          </a:bodyPr>
          <a:lstStyle/>
          <a:p>
            <a:pPr marL="342900" indent="-342900" algn="l">
              <a:buFont typeface="Wingdings"/>
              <a:buChar char="§"/>
              <a:defRPr/>
            </a:pPr>
            <a:r>
              <a:rPr lang="en-US" dirty="0"/>
              <a:t>“Vi” Editor</a:t>
            </a:r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/>
              <a:t>                                                                </a:t>
            </a:r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/>
              <a:t>“nano” editor</a:t>
            </a:r>
          </a:p>
          <a:p>
            <a:pPr marL="342900" indent="-342900" algn="l">
              <a:buFont typeface="Wingdings"/>
              <a:buChar char="§"/>
              <a:defRPr/>
            </a:pPr>
            <a:endParaRPr lang="en-US" dirty="0"/>
          </a:p>
          <a:p>
            <a:pPr marL="342900" indent="-342900" algn="l">
              <a:buFont typeface="Wingdings"/>
              <a:buChar char="§"/>
              <a:defRPr/>
            </a:pPr>
            <a:r>
              <a:rPr lang="en-US" dirty="0"/>
              <a:t>“</a:t>
            </a:r>
            <a:r>
              <a:rPr lang="en-US" dirty="0" err="1"/>
              <a:t>gedit</a:t>
            </a:r>
            <a:r>
              <a:rPr lang="en-US" dirty="0"/>
              <a:t>” editor</a:t>
            </a:r>
          </a:p>
          <a:p>
            <a:pPr marL="342900" indent="-342900" algn="l">
              <a:buFont typeface="Wingdings"/>
              <a:buChar char="§"/>
              <a:defRPr/>
            </a:pPr>
            <a:endParaRPr lang="en-US" dirty="0"/>
          </a:p>
          <a:p>
            <a:pPr marL="342900" indent="-342900" algn="l">
              <a:buFont typeface="Wingdings"/>
              <a:buChar char="§"/>
              <a:defRPr/>
            </a:pPr>
            <a:endParaRPr dirty="0"/>
          </a:p>
        </p:txBody>
      </p:sp>
      <p:pic>
        <p:nvPicPr>
          <p:cNvPr id="1026" name="Picture 2" descr="Working with vi/vim Editor [DL Series-3]">
            <a:extLst>
              <a:ext uri="{FF2B5EF4-FFF2-40B4-BE49-F238E27FC236}">
                <a16:creationId xmlns:a16="http://schemas.microsoft.com/office/drawing/2014/main" id="{5EA4A5C9-2AAB-462E-9492-5CC628E74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853" y="2117432"/>
            <a:ext cx="4069977" cy="241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NU Nano - Linux Text Editor&quot; Sticker ...">
            <a:extLst>
              <a:ext uri="{FF2B5EF4-FFF2-40B4-BE49-F238E27FC236}">
                <a16:creationId xmlns:a16="http://schemas.microsoft.com/office/drawing/2014/main" id="{3FF8324F-5B5E-4D3B-90C5-504835671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499" y="2939583"/>
            <a:ext cx="18478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6602AD-CEAB-461C-A780-7696CA9BA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34" y="4281516"/>
            <a:ext cx="2789942" cy="145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6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9465-4858-4B76-A8C2-0CFD06C9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35" y="1672759"/>
            <a:ext cx="9435353" cy="4351338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Editor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baseline="0" dirty="0">
              <a:solidFill>
                <a:srgbClr val="7E7E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Started by Bill Joy in 1976 (co-founder of Sun Microsystems which is taken over by Oracle)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baseline="0" dirty="0">
              <a:solidFill>
                <a:srgbClr val="7E7E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editors nano, ex, ed, </a:t>
            </a:r>
            <a:r>
              <a:rPr lang="en-US" sz="2400" b="0" i="0" u="none" strike="noStrike" baseline="0" dirty="0" err="1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kedit</a:t>
            </a: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geditand</a:t>
            </a: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8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9465-4858-4B76-A8C2-0CFD06C9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35" y="1672759"/>
            <a:ext cx="9435353" cy="4351338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Comes with every version of Linux/Unix</a:t>
            </a:r>
          </a:p>
          <a:p>
            <a:pPr marL="0" indent="0">
              <a:buNone/>
            </a:pP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popular editor among </a:t>
            </a:r>
            <a:r>
              <a:rPr lang="en-US" sz="2000" b="0" i="0" u="none" strike="noStrike" baseline="0" dirty="0" err="1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unixusers</a:t>
            </a:r>
            <a:r>
              <a:rPr lang="en-US" sz="20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new version is called as “vim”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b="0" i="0" u="none" strike="noStrike" baseline="0" dirty="0">
              <a:solidFill>
                <a:srgbClr val="7E7E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is unformatted editor. No fonts, no graphics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sensitive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files editing vi file1 file2 file3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44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9465-4858-4B76-A8C2-0CFD06C9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35" y="1672759"/>
            <a:ext cx="9435353" cy="4351338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vi &lt;file name&gt; at the shell prompt “$, # …”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baseline="0" dirty="0">
              <a:solidFill>
                <a:srgbClr val="7E7E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solidFill>
                  <a:srgbClr val="7E7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pressing enter you will see blank screen with “~”character at the beginning of all the lines.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baseline="0" dirty="0">
              <a:solidFill>
                <a:srgbClr val="7E7E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“~” character indicates that line is blank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2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“vi” Editor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9465-4858-4B76-A8C2-0CFD06C9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435" y="1672759"/>
            <a:ext cx="9435353" cy="4351338"/>
          </a:xfrm>
        </p:spPr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works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modes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Mode (default)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navigation and commands.</a:t>
            </a:r>
          </a:p>
          <a:p>
            <a:pPr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Mode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typing/editing text.</a:t>
            </a:r>
          </a:p>
          <a:p>
            <a:pPr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Line Mode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saving, quitting, and advanced commands.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9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“insert” mode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5173FD-A91E-4A79-A7C0-532287214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107229"/>
              </p:ext>
            </p:extLst>
          </p:nvPr>
        </p:nvGraphicFramePr>
        <p:xfrm>
          <a:off x="2048435" y="2307758"/>
          <a:ext cx="8095130" cy="1981200"/>
        </p:xfrm>
        <a:graphic>
          <a:graphicData uri="http://schemas.openxmlformats.org/drawingml/2006/table">
            <a:tbl>
              <a:tblPr/>
              <a:tblGrid>
                <a:gridCol w="4047565">
                  <a:extLst>
                    <a:ext uri="{9D8B030D-6E8A-4147-A177-3AD203B41FA5}">
                      <a16:colId xmlns:a16="http://schemas.microsoft.com/office/drawing/2014/main" val="1527741070"/>
                    </a:ext>
                  </a:extLst>
                </a:gridCol>
                <a:gridCol w="4047565">
                  <a:extLst>
                    <a:ext uri="{9D8B030D-6E8A-4147-A177-3AD203B41FA5}">
                      <a16:colId xmlns:a16="http://schemas.microsoft.com/office/drawing/2014/main" val="294186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664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 before cursor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73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 after cursor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921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line below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482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line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51209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4298EDA-E3CC-4557-9C58-3FDAE42B9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435" y="185055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command mode press: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27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basic navigation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08B375-4565-4757-9372-FC861B1CE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903359"/>
              </p:ext>
            </p:extLst>
          </p:nvPr>
        </p:nvGraphicFramePr>
        <p:xfrm>
          <a:off x="2807855" y="2181730"/>
          <a:ext cx="7509163" cy="2286000"/>
        </p:xfrm>
        <a:graphic>
          <a:graphicData uri="http://schemas.openxmlformats.org/drawingml/2006/table">
            <a:tbl>
              <a:tblPr/>
              <a:tblGrid>
                <a:gridCol w="3758045">
                  <a:extLst>
                    <a:ext uri="{9D8B030D-6E8A-4147-A177-3AD203B41FA5}">
                      <a16:colId xmlns:a16="http://schemas.microsoft.com/office/drawing/2014/main" val="2950298646"/>
                    </a:ext>
                  </a:extLst>
                </a:gridCol>
                <a:gridCol w="3751118">
                  <a:extLst>
                    <a:ext uri="{9D8B030D-6E8A-4147-A177-3AD203B41FA5}">
                      <a16:colId xmlns:a16="http://schemas.microsoft.com/office/drawing/2014/main" val="1378223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31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09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89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62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169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210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save files</a:t>
            </a:r>
            <a:br>
              <a:rPr lang="en-US" dirty="0"/>
            </a:br>
            <a:r>
              <a:rPr lang="en-US" sz="2400" dirty="0"/>
              <a:t>Press “esc” key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0B73A-9381-46C0-B1A7-E9A00F096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64953"/>
              </p:ext>
            </p:extLst>
          </p:nvPr>
        </p:nvGraphicFramePr>
        <p:xfrm>
          <a:off x="2550459" y="2199388"/>
          <a:ext cx="8225118" cy="2286000"/>
        </p:xfrm>
        <a:graphic>
          <a:graphicData uri="http://schemas.openxmlformats.org/drawingml/2006/table">
            <a:tbl>
              <a:tblPr/>
              <a:tblGrid>
                <a:gridCol w="4112559">
                  <a:extLst>
                    <a:ext uri="{9D8B030D-6E8A-4147-A177-3AD203B41FA5}">
                      <a16:colId xmlns:a16="http://schemas.microsoft.com/office/drawing/2014/main" val="2804941213"/>
                    </a:ext>
                  </a:extLst>
                </a:gridCol>
                <a:gridCol w="4112559">
                  <a:extLst>
                    <a:ext uri="{9D8B030D-6E8A-4147-A177-3AD203B41FA5}">
                      <a16:colId xmlns:a16="http://schemas.microsoft.com/office/drawing/2014/main" val="324851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60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19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:wq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and quit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15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:q!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Quit without saving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255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32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search in files</a:t>
            </a:r>
            <a:br>
              <a:rPr lang="en-US" dirty="0"/>
            </a:br>
            <a:r>
              <a:rPr lang="en-US" sz="2400" dirty="0"/>
              <a:t>Press “esc” key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0B73A-9381-46C0-B1A7-E9A00F096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30713"/>
              </p:ext>
            </p:extLst>
          </p:nvPr>
        </p:nvGraphicFramePr>
        <p:xfrm>
          <a:off x="2550459" y="2199388"/>
          <a:ext cx="8225118" cy="3383280"/>
        </p:xfrm>
        <a:graphic>
          <a:graphicData uri="http://schemas.openxmlformats.org/drawingml/2006/table">
            <a:tbl>
              <a:tblPr/>
              <a:tblGrid>
                <a:gridCol w="4112559">
                  <a:extLst>
                    <a:ext uri="{9D8B030D-6E8A-4147-A177-3AD203B41FA5}">
                      <a16:colId xmlns:a16="http://schemas.microsoft.com/office/drawing/2014/main" val="2804941213"/>
                    </a:ext>
                  </a:extLst>
                </a:gridCol>
                <a:gridCol w="4112559">
                  <a:extLst>
                    <a:ext uri="{9D8B030D-6E8A-4147-A177-3AD203B41FA5}">
                      <a16:colId xmlns:a16="http://schemas.microsoft.com/office/drawing/2014/main" val="324851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/word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Press “n” for next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60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and replace</a:t>
                      </a:r>
                    </a:p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:%s/word1/word2/g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19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15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255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1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commands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0B73A-9381-46C0-B1A7-E9A00F096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387402"/>
              </p:ext>
            </p:extLst>
          </p:nvPr>
        </p:nvGraphicFramePr>
        <p:xfrm>
          <a:off x="2823881" y="1431318"/>
          <a:ext cx="6795248" cy="5577840"/>
        </p:xfrm>
        <a:graphic>
          <a:graphicData uri="http://schemas.openxmlformats.org/drawingml/2006/table">
            <a:tbl>
              <a:tblPr/>
              <a:tblGrid>
                <a:gridCol w="3358291">
                  <a:extLst>
                    <a:ext uri="{9D8B030D-6E8A-4147-A177-3AD203B41FA5}">
                      <a16:colId xmlns:a16="http://schemas.microsoft.com/office/drawing/2014/main" val="2804941213"/>
                    </a:ext>
                  </a:extLst>
                </a:gridCol>
                <a:gridCol w="3436957">
                  <a:extLst>
                    <a:ext uri="{9D8B030D-6E8A-4147-A177-3AD203B41FA5}">
                      <a16:colId xmlns:a16="http://schemas.microsoft.com/office/drawing/2014/main" val="3248517077"/>
                    </a:ext>
                  </a:extLst>
                </a:gridCol>
              </a:tblGrid>
              <a:tr h="3772564">
                <a:tc>
                  <a:txBody>
                    <a:bodyPr/>
                    <a:lstStyle/>
                    <a:p>
                      <a:r>
                        <a:rPr lang="en-US" sz="2000" b="1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Command</a:t>
                      </a:r>
                      <a:r>
                        <a:rPr lang="en-US" sz="2000" b="0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2000" b="1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Function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r>
                        <a:rPr lang="en-US" sz="20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Delete character in current position 	</a:t>
                      </a:r>
                    </a:p>
                    <a:p>
                      <a:r>
                        <a:rPr lang="en-US" sz="20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Delete character in left of current position</a:t>
                      </a:r>
                    </a:p>
                    <a:p>
                      <a:r>
                        <a:rPr lang="en-US" sz="20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dd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Delete current line	</a:t>
                      </a:r>
                    </a:p>
                    <a:p>
                      <a:r>
                        <a:rPr lang="en-US" sz="2000" b="1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dw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Delete a word	</a:t>
                      </a:r>
                    </a:p>
                    <a:p>
                      <a:r>
                        <a:rPr lang="en-US" sz="2000" b="1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Ndw</a:t>
                      </a:r>
                      <a:r>
                        <a:rPr lang="en-US" sz="20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1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ndd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Deletes n words and n lines	</a:t>
                      </a:r>
                    </a:p>
                    <a:p>
                      <a:r>
                        <a:rPr lang="en-US" sz="20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d0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Deletes till beginning of line	</a:t>
                      </a:r>
                    </a:p>
                    <a:p>
                      <a:r>
                        <a:rPr lang="en-US" sz="20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d$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Deletes till end of line	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3905"/>
                  </a:ext>
                </a:extLst>
              </a:tr>
              <a:tr h="369859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606778"/>
                  </a:ext>
                </a:extLst>
              </a:tr>
              <a:tr h="369859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19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3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commands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0B73A-9381-46C0-B1A7-E9A00F096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751943"/>
              </p:ext>
            </p:extLst>
          </p:nvPr>
        </p:nvGraphicFramePr>
        <p:xfrm>
          <a:off x="2823881" y="1431318"/>
          <a:ext cx="7135908" cy="3997965"/>
        </p:xfrm>
        <a:graphic>
          <a:graphicData uri="http://schemas.openxmlformats.org/drawingml/2006/table">
            <a:tbl>
              <a:tblPr/>
              <a:tblGrid>
                <a:gridCol w="3526649">
                  <a:extLst>
                    <a:ext uri="{9D8B030D-6E8A-4147-A177-3AD203B41FA5}">
                      <a16:colId xmlns:a16="http://schemas.microsoft.com/office/drawing/2014/main" val="2804941213"/>
                    </a:ext>
                  </a:extLst>
                </a:gridCol>
                <a:gridCol w="3609259">
                  <a:extLst>
                    <a:ext uri="{9D8B030D-6E8A-4147-A177-3AD203B41FA5}">
                      <a16:colId xmlns:a16="http://schemas.microsoft.com/office/drawing/2014/main" val="3248517077"/>
                    </a:ext>
                  </a:extLst>
                </a:gridCol>
              </a:tblGrid>
              <a:tr h="3083565">
                <a:tc>
                  <a:txBody>
                    <a:bodyPr/>
                    <a:lstStyle/>
                    <a:p>
                      <a:r>
                        <a:rPr lang="en-US" sz="2000" b="1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Command</a:t>
                      </a:r>
                      <a:r>
                        <a:rPr lang="en-US" sz="2000" b="0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2000" b="1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Function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Ctrl f                  scroll forward</a:t>
                      </a:r>
                    </a:p>
                    <a:p>
                      <a:endParaRPr lang="en-US" sz="20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Ctrl b                 scroll backward	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3905"/>
                  </a:ext>
                </a:extLst>
              </a:tr>
              <a:tr h="373700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606778"/>
                  </a:ext>
                </a:extLst>
              </a:tr>
              <a:tr h="373700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19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292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commands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0B73A-9381-46C0-B1A7-E9A00F096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712595"/>
              </p:ext>
            </p:extLst>
          </p:nvPr>
        </p:nvGraphicFramePr>
        <p:xfrm>
          <a:off x="2734233" y="1431318"/>
          <a:ext cx="8480613" cy="3997965"/>
        </p:xfrm>
        <a:graphic>
          <a:graphicData uri="http://schemas.openxmlformats.org/drawingml/2006/table">
            <a:tbl>
              <a:tblPr/>
              <a:tblGrid>
                <a:gridCol w="4244436">
                  <a:extLst>
                    <a:ext uri="{9D8B030D-6E8A-4147-A177-3AD203B41FA5}">
                      <a16:colId xmlns:a16="http://schemas.microsoft.com/office/drawing/2014/main" val="2804941213"/>
                    </a:ext>
                  </a:extLst>
                </a:gridCol>
                <a:gridCol w="4236177">
                  <a:extLst>
                    <a:ext uri="{9D8B030D-6E8A-4147-A177-3AD203B41FA5}">
                      <a16:colId xmlns:a16="http://schemas.microsoft.com/office/drawing/2014/main" val="3248517077"/>
                    </a:ext>
                  </a:extLst>
                </a:gridCol>
              </a:tblGrid>
              <a:tr h="3083565">
                <a:tc>
                  <a:txBody>
                    <a:bodyPr/>
                    <a:lstStyle/>
                    <a:p>
                      <a:r>
                        <a:rPr lang="en-US" sz="2000" b="1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Command</a:t>
                      </a:r>
                      <a:r>
                        <a:rPr lang="en-US" sz="2000" b="0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2000" b="1" i="0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Function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:set num              shows line number</a:t>
                      </a:r>
                    </a:p>
                    <a:p>
                      <a:endParaRPr lang="en-US" sz="20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:show mode         shows modes </a:t>
                      </a:r>
                    </a:p>
                    <a:p>
                      <a:endParaRPr lang="en-US" sz="20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:set </a:t>
                      </a:r>
                      <a:r>
                        <a:rPr lang="en-US" sz="20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ic</a:t>
                      </a: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ignore case-sensitive	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3905"/>
                  </a:ext>
                </a:extLst>
              </a:tr>
              <a:tr h="373700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606778"/>
                  </a:ext>
                </a:extLst>
              </a:tr>
              <a:tr h="373700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19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2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EFA9-5B89-4F98-A8AE-372F1328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965" y="347196"/>
            <a:ext cx="7283824" cy="1325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Algerian" panose="04020705040A02060702" pitchFamily="82" charset="0"/>
              </a:rPr>
              <a:t>“vi” &amp; “vim” difference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319462-1535-4682-ADD2-EAB9DE428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66913"/>
              </p:ext>
            </p:extLst>
          </p:nvPr>
        </p:nvGraphicFramePr>
        <p:xfrm>
          <a:off x="2326341" y="1994993"/>
          <a:ext cx="9865659" cy="2773680"/>
        </p:xfrm>
        <a:graphic>
          <a:graphicData uri="http://schemas.openxmlformats.org/drawingml/2006/table">
            <a:tbl>
              <a:tblPr/>
              <a:tblGrid>
                <a:gridCol w="3288553">
                  <a:extLst>
                    <a:ext uri="{9D8B030D-6E8A-4147-A177-3AD203B41FA5}">
                      <a16:colId xmlns:a16="http://schemas.microsoft.com/office/drawing/2014/main" val="186636907"/>
                    </a:ext>
                  </a:extLst>
                </a:gridCol>
                <a:gridCol w="3288553">
                  <a:extLst>
                    <a:ext uri="{9D8B030D-6E8A-4147-A177-3AD203B41FA5}">
                      <a16:colId xmlns:a16="http://schemas.microsoft.com/office/drawing/2014/main" val="3020454228"/>
                    </a:ext>
                  </a:extLst>
                </a:gridCol>
                <a:gridCol w="3288553">
                  <a:extLst>
                    <a:ext uri="{9D8B030D-6E8A-4147-A177-3AD203B41FA5}">
                      <a16:colId xmlns:a16="http://schemas.microsoft.com/office/drawing/2014/main" val="3997617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0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Editor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 Improved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54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162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highlighting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20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Undo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undo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348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09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132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279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4DEBAC-11D1-48DD-A45B-9292438E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730" y="627529"/>
            <a:ext cx="3935506" cy="484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5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022BE-4F3D-4081-ADBB-EE6520C60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3035" y="856360"/>
            <a:ext cx="4123765" cy="4558321"/>
          </a:xfrm>
        </p:spPr>
      </p:pic>
    </p:spTree>
    <p:extLst>
      <p:ext uri="{BB962C8B-B14F-4D97-AF65-F5344CB8AC3E}">
        <p14:creationId xmlns:p14="http://schemas.microsoft.com/office/powerpoint/2010/main" val="3526601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9F9C3F-02CE-4E22-8229-C3B35988D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033" y="277905"/>
            <a:ext cx="8626850" cy="580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29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CEE1-EA37-472E-A33B-DBEAD3A2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576" y="383054"/>
            <a:ext cx="6889376" cy="90786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Vi and nano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72E886-0C26-4C9A-A0E8-6BC12D5FD9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757893"/>
              </p:ext>
            </p:extLst>
          </p:nvPr>
        </p:nvGraphicFramePr>
        <p:xfrm>
          <a:off x="1851212" y="2253176"/>
          <a:ext cx="9587751" cy="2286000"/>
        </p:xfrm>
        <a:graphic>
          <a:graphicData uri="http://schemas.openxmlformats.org/drawingml/2006/table">
            <a:tbl>
              <a:tblPr/>
              <a:tblGrid>
                <a:gridCol w="3195917">
                  <a:extLst>
                    <a:ext uri="{9D8B030D-6E8A-4147-A177-3AD203B41FA5}">
                      <a16:colId xmlns:a16="http://schemas.microsoft.com/office/drawing/2014/main" val="2471422716"/>
                    </a:ext>
                  </a:extLst>
                </a:gridCol>
                <a:gridCol w="3195917">
                  <a:extLst>
                    <a:ext uri="{9D8B030D-6E8A-4147-A177-3AD203B41FA5}">
                      <a16:colId xmlns:a16="http://schemas.microsoft.com/office/drawing/2014/main" val="3314448013"/>
                    </a:ext>
                  </a:extLst>
                </a:gridCol>
                <a:gridCol w="3195917">
                  <a:extLst>
                    <a:ext uri="{9D8B030D-6E8A-4147-A177-3AD203B41FA5}">
                      <a16:colId xmlns:a16="http://schemas.microsoft.com/office/drawing/2014/main" val="1022848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34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for beginners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687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Commands displayed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46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Typing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insert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43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editing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769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23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487</Words>
  <Application>Microsoft Office PowerPoint</Application>
  <PresentationFormat>Widescreen</PresentationFormat>
  <Paragraphs>144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Linux editors</vt:lpstr>
      <vt:lpstr>Linux Editors</vt:lpstr>
      <vt:lpstr> “vi” Editor</vt:lpstr>
      <vt:lpstr> “vi” Editor</vt:lpstr>
      <vt:lpstr> “vi” Editor</vt:lpstr>
      <vt:lpstr> “vi” Editor modes</vt:lpstr>
      <vt:lpstr> “vi” “insert” mode</vt:lpstr>
      <vt:lpstr> “vi” basic navigation</vt:lpstr>
      <vt:lpstr> “vi” save files Press “esc” key</vt:lpstr>
      <vt:lpstr> “vi” search in files Press “esc” key</vt:lpstr>
      <vt:lpstr> “vi” commands</vt:lpstr>
      <vt:lpstr> “vi” commands</vt:lpstr>
      <vt:lpstr> “vi” commands</vt:lpstr>
      <vt:lpstr> “vi” &amp; “vim” difference</vt:lpstr>
      <vt:lpstr>PowerPoint Presentation</vt:lpstr>
      <vt:lpstr>PowerPoint Presentation</vt:lpstr>
      <vt:lpstr>PowerPoint Presentation</vt:lpstr>
      <vt:lpstr>Vi and nano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Evolution</dc:title>
  <dc:creator>Sreekantha BA</dc:creator>
  <cp:lastModifiedBy>Sreekantha BA</cp:lastModifiedBy>
  <cp:revision>103</cp:revision>
  <dcterms:created xsi:type="dcterms:W3CDTF">2026-02-23T08:36:44Z</dcterms:created>
  <dcterms:modified xsi:type="dcterms:W3CDTF">2026-09-09T08:16:42Z</dcterms:modified>
</cp:coreProperties>
</file>