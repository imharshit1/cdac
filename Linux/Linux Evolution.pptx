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38"/>
  </p:notesMasterIdLst>
  <p:sldIdLst>
    <p:sldId id="289" r:id="rId3"/>
    <p:sldId id="256" r:id="rId4"/>
    <p:sldId id="29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4393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85910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108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F1480F-3B15-C025-630A-7C5421F81312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F1480F-3B15-C025-630A-7C5421F81312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741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F1480F-3B15-C025-630A-7C5421F81312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1061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977D2C-82BE-9C37-51ED-D4C073DC09D4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95CC0A-65D2-747F-3906-0C94CF508CF8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A77610-34B1-293C-834B-E1E42EA92FAF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E6975F-2134-208C-6652-5FAEAAAF7D2B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81D5C-3BA4-21C8-3BB9-286D54843725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91E0C2-B035-1D4E-E3B5-0CEA4B5045C9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25F1E6-B976-BEEA-6925-44594B0DB492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5F8F6-5015-DF8B-D965-780EDDBDBB8E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356EE5-F34C-FBB0-94DA-73DB67F2AA61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406E9D-5C1F-24AD-DD61-F2E51C704FB9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8C17A4-0D34-6F03-23A6-AD1ECB755124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0D753F-DEE5-444E-4863-4BBB1FB362D2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BBFC-0831-892F-8CB0-20B9893BBDC1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9C6945-590B-BD68-2F59-61C474693303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480680-5EF1-002C-D46B-83D3DDE46A1A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D99CB9-5798-0A34-C526-D6CADC0D872B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28AF3-704D-DB1E-77AF-4509A28D185C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E4FFA-FA6B-F007-B4E0-BDCE1B5C2D77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AF6943-9DDC-7A9C-7CBF-5E0890354AED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D937ED-E9D6-5421-E805-D9BC94A71BBD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C8781F-5304-10DF-51A7-CF6E4880599F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F19F5-970C-942C-0EA0-A1C43146EC93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00EC21-9656-7F6B-EA7E-38158CCBF131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27D644-3094-DC3F-39E3-057BF8B9A811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80DD44-58BC-A6E0-0233-4FED14C77712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EB1FA-AEE6-27FA-F34F-B3AF3D302C42}" type="slidenum">
              <a:rPr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D422BA-3E46-FA01-5B3F-B085F6F38712}" type="slidenum">
              <a:rPr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61E6A3-A707-4D10-D2E4-B3B0E545C243}" type="slidenum">
              <a:rPr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913C11-44A2-2B09-267F-D3BAF5473919}" type="slidenum">
              <a:rPr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B013C4-CDD0-F730-E101-3F813A1D11D6}" type="slidenum">
              <a:rPr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2BBB4-2456-FC57-A094-B3112D67B0F4}" type="slidenum">
              <a:rPr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2E756E-278F-5B06-9FB7-1F3B83D7D694}" type="slidenum">
              <a:rPr/>
              <a:t>35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16DA0-0369-467E-BB54-1234C4CBA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61DF5-963B-40D2-AB45-7D33A91FA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CC64C-B040-4B9F-9083-944AB145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96D1-2A3F-4676-A322-E3806C75E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7E5F8-232B-49AF-AC18-36BD8B33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1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E8E4-02EB-415A-87CD-4BEFE879C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AA798-9D2A-44B6-9B08-C925EE786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F2E65-9C0D-48D4-93AF-46ABA680C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42251-A8C6-485B-9C07-637D7BE64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E634E-986B-47B1-9BC6-1434363F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2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0F63-B39A-48EA-A6AB-E8C0B2056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4B09E-72AB-411B-A655-8A38CBB06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462E8-F356-4425-80C3-15BAA225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4FCBB-3A97-4F9E-803B-EB5B4920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ADFCA-C700-4ADC-B359-29A1127B8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9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0E560-EC0B-458E-AD9D-C3EF60BB0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14360-B8CF-4D53-B327-5222F889F2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88356-0072-4130-96B4-112C39FB5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2CD3A-4D31-4ACD-AA7E-1BDE2B04E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F41CE-BC37-4C54-B0AB-5483CD6C4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17BC0-280B-4DE4-9147-4193492B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6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C7D1A-7625-4867-AA29-A81FBFF86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C2F2B-4540-4A09-9A2C-AB77AF1B4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89F04-B829-4C6F-91EA-372EF6BC2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B6A9D-C4D9-42F4-A9A7-93B61D3F55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737F4-AB15-48C0-AD14-7ED3DA8555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DA52E-E4ED-41AC-81AD-7057DBB73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968675-F7A6-4BBF-AFCF-9B1596DB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44BB0-E58B-4F14-B86F-60798A29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78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BAAF-2EE1-46B7-9DFD-F66C14350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E6101-61D5-4B7B-80E0-821BDC27E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22887B-437C-4A8D-A468-6C34A62CD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C5E2A-A6A3-44E2-85F1-10B84C71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53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0F6B2-E940-4A37-8C06-C88D781A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61410C-055E-4B1A-BE50-86BF2EC3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39C0E-0CFC-4C1D-AF65-3F1BB7AF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1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F41B0-ED37-462A-9BD5-77033786A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4E20-11B6-4EDC-BB50-7890CE3DD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5B42E-3AEC-40E1-BFA5-26161B955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D7F59-7B88-4697-9282-A7648FF5D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3B5B3-93BD-41F8-90EB-ABD376AE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94876-BF48-47F1-94CB-B3259F68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28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29354-C234-410F-B41C-841664404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4C1D4D-16C3-4632-9FED-8FFEB4254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73B8C-9E29-4CFB-A774-C571937C8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D94D1-55E9-4305-A488-B90F265D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FA9B9-E3C3-408A-BE90-AB8262C0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22D6E-9532-4695-9214-840BA7B1D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0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7DE7A-5ABD-499B-B2F2-623746B9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3C3ED-4CAE-4721-947A-DA03473FA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75F8A-EF71-4D98-A83B-9573EE69F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65E65-2179-42AA-BD67-783E642E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24607-C4DD-4C65-A24A-191422D0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1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218E5B-2D0C-4624-89A7-7958185DD5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E9DCF1-D46C-4F3A-8797-C25315C65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CB81B-1F15-43D3-ACD6-6D33F1E87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5C6AC-8033-48C6-909A-A6790778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62F59-EDEE-4CF5-AE83-ED1EC963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24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860767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5"/>
            <a:ext cx="10363199" cy="1470025"/>
          </a:xfrm>
        </p:spPr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952398456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5622697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3330326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0569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3124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4252309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6976441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9207261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3118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1_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285771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0497146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0580823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737226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8786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8709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8033372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583498" y="1600201"/>
            <a:ext cx="4704522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78937122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76053" y="1600201"/>
            <a:ext cx="5006346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6776791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2930614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47912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1_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7906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628615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83498" y="1535113"/>
            <a:ext cx="470452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59232873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583498" y="2174874"/>
            <a:ext cx="470452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8299562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80042" y="1535113"/>
            <a:ext cx="510235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72028149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480042" y="2174874"/>
            <a:ext cx="510235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22948113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35668781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4108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9780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67453870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22874011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72352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1_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8078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214487892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3350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1_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121853" name="Title 1"/>
          <p:cNvSpPr>
            <a:spLocks noGrp="1"/>
          </p:cNvSpPr>
          <p:nvPr>
            <p:ph type="title"/>
          </p:nvPr>
        </p:nvSpPr>
        <p:spPr bwMode="auto">
          <a:xfrm>
            <a:off x="1583498" y="273049"/>
            <a:ext cx="355239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743352041" name="Content Placeholder 2"/>
          <p:cNvSpPr>
            <a:spLocks noGrp="1"/>
          </p:cNvSpPr>
          <p:nvPr>
            <p:ph idx="1"/>
          </p:nvPr>
        </p:nvSpPr>
        <p:spPr bwMode="auto">
          <a:xfrm>
            <a:off x="5327914" y="273050"/>
            <a:ext cx="625448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4931936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8" y="1435101"/>
            <a:ext cx="355239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3488240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5274522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77225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1_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434472" name="Title 1"/>
          <p:cNvSpPr>
            <a:spLocks noGrp="1"/>
          </p:cNvSpPr>
          <p:nvPr>
            <p:ph type="title"/>
          </p:nvPr>
        </p:nvSpPr>
        <p:spPr bwMode="auto">
          <a:xfrm>
            <a:off x="1583498" y="4800600"/>
            <a:ext cx="998510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74401396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583498" y="612774"/>
            <a:ext cx="9985109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79339151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8" y="5367337"/>
            <a:ext cx="9985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3006941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7569373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3689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1_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4330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01345365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325807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270157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355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1_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24606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8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02032509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9574259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5435258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3739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59136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198681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2669370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582249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30162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860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2579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5598820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77200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15602839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4365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912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10912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527952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64082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18706672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12119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39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05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2137881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446676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072441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19321456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699022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516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77235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529149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4650986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96159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353215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5091240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1564858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458635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595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1963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2075441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86794081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190271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691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92976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51014861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406655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207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28441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9959204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13738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3179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69494076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21746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686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5025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272672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5783943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97304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15399147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76258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225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5815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5597388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93730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3775529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82684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309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51340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4060225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24390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7542362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00161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053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733032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5"/>
            <a:ext cx="10363199" cy="1470025"/>
          </a:xfrm>
        </p:spPr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072312597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9927220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578993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466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09877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5351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4873613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35589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714156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4024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98632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1_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7225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77137848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713242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5056921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3521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058158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697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97876800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583497" y="1600201"/>
            <a:ext cx="4704522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78724130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76053" y="1600201"/>
            <a:ext cx="5006346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3270273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2012355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7345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32080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1_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0606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662792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83497" y="1535113"/>
            <a:ext cx="470452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7149773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583497" y="2174874"/>
            <a:ext cx="470452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1718431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80042" y="1535113"/>
            <a:ext cx="510235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1104376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480042" y="2174874"/>
            <a:ext cx="510235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78720337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20455801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45410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92482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391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48299661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8247534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57617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00089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1_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15908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96768437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36209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02171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1_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379092" name="Title 1"/>
          <p:cNvSpPr>
            <a:spLocks noGrp="1"/>
          </p:cNvSpPr>
          <p:nvPr>
            <p:ph type="title"/>
          </p:nvPr>
        </p:nvSpPr>
        <p:spPr bwMode="auto">
          <a:xfrm>
            <a:off x="1583497" y="273049"/>
            <a:ext cx="355239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98240681" name="Content Placeholder 2"/>
          <p:cNvSpPr>
            <a:spLocks noGrp="1"/>
          </p:cNvSpPr>
          <p:nvPr>
            <p:ph idx="1"/>
          </p:nvPr>
        </p:nvSpPr>
        <p:spPr bwMode="auto">
          <a:xfrm>
            <a:off x="5327913" y="273050"/>
            <a:ext cx="625448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75538416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7" y="1435101"/>
            <a:ext cx="355239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6103845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0741326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843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95911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1_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045832" name="Title 1"/>
          <p:cNvSpPr>
            <a:spLocks noGrp="1"/>
          </p:cNvSpPr>
          <p:nvPr>
            <p:ph type="title"/>
          </p:nvPr>
        </p:nvSpPr>
        <p:spPr bwMode="auto">
          <a:xfrm>
            <a:off x="1583497" y="4800600"/>
            <a:ext cx="998510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4783574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583497" y="612774"/>
            <a:ext cx="9985109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555926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7" y="5367337"/>
            <a:ext cx="9985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444530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6031935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1721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49491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1_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0267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49726275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0952162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4753295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8984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523695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1_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657888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8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7571129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4796900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255259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352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9895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8428C1-4402-43DF-BE1B-FAC75225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BCA76-B870-47F2-A74A-7D730A954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C62B7-0189-4809-8A92-84A406195B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80616-DB42-4665-BB54-2B274359D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22C70-6973-444D-B30F-229699B53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	</a:t>
            </a:r>
            <a:fld id="{F8E3F0E9-0FC2-4DDE-87CF-3BA6A04EA4CC}" type="slidenum">
              <a:rPr smtClean="0"/>
              <a:t>‹#›</a:t>
            </a:fld>
            <a:endParaRPr/>
          </a:p>
        </p:txBody>
      </p:sp>
      <p:sp>
        <p:nvSpPr>
          <p:cNvPr id="7" name="Shape 1058">
            <a:extLst>
              <a:ext uri="{FF2B5EF4-FFF2-40B4-BE49-F238E27FC236}">
                <a16:creationId xmlns:a16="http://schemas.microsoft.com/office/drawing/2014/main" id="{97739066-5E49-4B48-80A6-CB1E4AAAD295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" name="Shape 1059">
            <a:extLst>
              <a:ext uri="{FF2B5EF4-FFF2-40B4-BE49-F238E27FC236}">
                <a16:creationId xmlns:a16="http://schemas.microsoft.com/office/drawing/2014/main" id="{F5676268-D941-4E14-99A1-467AF438B6DB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</p:spPr>
      </p:sp>
      <p:sp>
        <p:nvSpPr>
          <p:cNvPr id="9" name="Shape 1060">
            <a:extLst>
              <a:ext uri="{FF2B5EF4-FFF2-40B4-BE49-F238E27FC236}">
                <a16:creationId xmlns:a16="http://schemas.microsoft.com/office/drawing/2014/main" id="{13889FDF-7470-4C85-AFA5-8AB853459875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" name="Shape 1061">
            <a:extLst>
              <a:ext uri="{FF2B5EF4-FFF2-40B4-BE49-F238E27FC236}">
                <a16:creationId xmlns:a16="http://schemas.microsoft.com/office/drawing/2014/main" id="{3D56EE19-2605-4F22-9954-BAE178CC4CE5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" name="Shape 1062">
            <a:extLst>
              <a:ext uri="{FF2B5EF4-FFF2-40B4-BE49-F238E27FC236}">
                <a16:creationId xmlns:a16="http://schemas.microsoft.com/office/drawing/2014/main" id="{E1F897B8-70B3-471B-9227-C875780F758D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" name="Shape 1063">
            <a:extLst>
              <a:ext uri="{FF2B5EF4-FFF2-40B4-BE49-F238E27FC236}">
                <a16:creationId xmlns:a16="http://schemas.microsoft.com/office/drawing/2014/main" id="{B5E07724-007E-43FF-91DC-7F7324674971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" name="Shape 1064">
            <a:extLst>
              <a:ext uri="{FF2B5EF4-FFF2-40B4-BE49-F238E27FC236}">
                <a16:creationId xmlns:a16="http://schemas.microsoft.com/office/drawing/2014/main" id="{5945EFFB-8DE0-4A6A-AB88-70E17BAFE2EE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" name="Shape 1065">
            <a:extLst>
              <a:ext uri="{FF2B5EF4-FFF2-40B4-BE49-F238E27FC236}">
                <a16:creationId xmlns:a16="http://schemas.microsoft.com/office/drawing/2014/main" id="{3478AD50-9B99-49F3-A2CF-3F2629FE54A5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" name="Shape 1066">
            <a:extLst>
              <a:ext uri="{FF2B5EF4-FFF2-40B4-BE49-F238E27FC236}">
                <a16:creationId xmlns:a16="http://schemas.microsoft.com/office/drawing/2014/main" id="{E1091768-3752-48C0-B328-1EA0F3E4A79D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" name="Shape 1067">
            <a:extLst>
              <a:ext uri="{FF2B5EF4-FFF2-40B4-BE49-F238E27FC236}">
                <a16:creationId xmlns:a16="http://schemas.microsoft.com/office/drawing/2014/main" id="{E226A6B0-7915-41C3-983B-70C68280B561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" name="Shape 1068">
            <a:extLst>
              <a:ext uri="{FF2B5EF4-FFF2-40B4-BE49-F238E27FC236}">
                <a16:creationId xmlns:a16="http://schemas.microsoft.com/office/drawing/2014/main" id="{2295DA0F-DCCD-4CDC-BC87-D43441E6592E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" name="Shape 1069">
            <a:extLst>
              <a:ext uri="{FF2B5EF4-FFF2-40B4-BE49-F238E27FC236}">
                <a16:creationId xmlns:a16="http://schemas.microsoft.com/office/drawing/2014/main" id="{F9BAFDCB-9EC5-4796-889C-2F526F765D1E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" name="Shape 1070">
            <a:extLst>
              <a:ext uri="{FF2B5EF4-FFF2-40B4-BE49-F238E27FC236}">
                <a16:creationId xmlns:a16="http://schemas.microsoft.com/office/drawing/2014/main" id="{451142E9-7B2C-4129-B708-1AB0FE99D4B0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76944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49" r:id="rId12"/>
    <p:sldLayoutId id="2147483650" r:id="rId13"/>
    <p:sldLayoutId id="2147483651" r:id="rId14"/>
    <p:sldLayoutId id="2147483652" r:id="rId15"/>
    <p:sldLayoutId id="2147483653" r:id="rId16"/>
    <p:sldLayoutId id="2147483654" r:id="rId17"/>
    <p:sldLayoutId id="2147483655" r:id="rId18"/>
    <p:sldLayoutId id="2147483656" r:id="rId19"/>
    <p:sldLayoutId id="2147483657" r:id="rId20"/>
    <p:sldLayoutId id="2147483658" r:id="rId21"/>
    <p:sldLayoutId id="2147483659" r:id="rId2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33596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947953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573111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207062582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2130827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	</a:t>
            </a:r>
            <a:fld id="{F8E3F0E9-0FC2-4DDE-87CF-3BA6A04EA4CC}" type="slidenum">
              <a:rPr/>
              <a:t>‹#›</a:t>
            </a:fld>
            <a:endParaRPr/>
          </a:p>
        </p:txBody>
      </p:sp>
      <p:sp>
        <p:nvSpPr>
          <p:cNvPr id="857509221" name="Shape 1058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81021620" name="Shape 1059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</p:spPr>
      </p:sp>
      <p:sp>
        <p:nvSpPr>
          <p:cNvPr id="1928360171" name="Shape 1060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04888084" name="Shape 1061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10045847" name="Shape 1062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8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85150927" name="Shape 1063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93101397" name="Shape 1064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7387942" name="Shape 1065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63737535" name="Shape 1066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07825763" name="Shape 1067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91221264" name="Shape 1068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62083106" name="Shape 1069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91706101" name="Shape 1070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623014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</p:sldLayoutIdLst>
  <p:hf sldNum="0" hdr="0" ftr="0" dt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691227" name="Title 1"/>
          <p:cNvSpPr>
            <a:spLocks noGrp="1"/>
          </p:cNvSpPr>
          <p:nvPr>
            <p:ph type="ctrTitle"/>
          </p:nvPr>
        </p:nvSpPr>
        <p:spPr bwMode="auto">
          <a:xfrm>
            <a:off x="4807760" y="3692490"/>
            <a:ext cx="7712335" cy="110568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introduction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4E8840-6451-49B9-A8A6-C91FEA58A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428" y="638274"/>
            <a:ext cx="4762500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359193" name="Title 1"/>
          <p:cNvSpPr>
            <a:spLocks noGrp="1"/>
          </p:cNvSpPr>
          <p:nvPr>
            <p:ph type="ctrTitle"/>
          </p:nvPr>
        </p:nvSpPr>
        <p:spPr bwMode="auto">
          <a:xfrm>
            <a:off x="1694329" y="494518"/>
            <a:ext cx="9144000" cy="110568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Algerian"/>
              </a:rPr>
              <a:t>Operating Systems</a:t>
            </a:r>
            <a:endParaRPr dirty="0"/>
          </a:p>
        </p:txBody>
      </p:sp>
      <p:sp>
        <p:nvSpPr>
          <p:cNvPr id="67824342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2408349"/>
            <a:ext cx="9144000" cy="2849451"/>
          </a:xfrm>
        </p:spPr>
        <p:txBody>
          <a:bodyPr>
            <a:normAutofit fontScale="85000" lnSpcReduction="2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  <a:defRPr/>
            </a:pPr>
            <a:r>
              <a:rPr lang="en-US" b="1" dirty="0">
                <a:latin typeface="Times New Roman"/>
                <a:cs typeface="Times New Roman"/>
              </a:rPr>
              <a:t>Microsoft Windows</a:t>
            </a:r>
          </a:p>
          <a:p>
            <a:pPr marL="342900" indent="-342900" algn="l">
              <a:buFont typeface="Wingdings" panose="05000000000000000000" pitchFamily="2" charset="2"/>
              <a:buChar char="Ø"/>
              <a:defRPr/>
            </a:pPr>
            <a:endParaRPr lang="en-US" b="1" dirty="0">
              <a:latin typeface="Times New Roman"/>
              <a:cs typeface="Times New Roman"/>
            </a:endParaRPr>
          </a:p>
          <a:p>
            <a:pPr marL="342900" indent="-342900" algn="l">
              <a:buFont typeface="Wingdings" panose="05000000000000000000" pitchFamily="2" charset="2"/>
              <a:buChar char="Ø"/>
              <a:defRPr/>
            </a:pPr>
            <a:r>
              <a:rPr lang="en-US" b="1" dirty="0">
                <a:latin typeface="Times New Roman"/>
                <a:cs typeface="Times New Roman"/>
              </a:rPr>
              <a:t>Linux 500+ distributions</a:t>
            </a:r>
          </a:p>
          <a:p>
            <a:pPr algn="l">
              <a:defRPr/>
            </a:pPr>
            <a:r>
              <a:rPr lang="en-US" b="1" dirty="0">
                <a:latin typeface="Times New Roman"/>
                <a:cs typeface="Times New Roman"/>
              </a:rPr>
              <a:t>     (</a:t>
            </a:r>
            <a:r>
              <a:rPr lang="en-US" b="1" dirty="0" err="1">
                <a:latin typeface="Times New Roman"/>
                <a:cs typeface="Times New Roman"/>
              </a:rPr>
              <a:t>Redhat</a:t>
            </a:r>
            <a:r>
              <a:rPr lang="en-US" b="1" dirty="0">
                <a:latin typeface="Times New Roman"/>
                <a:cs typeface="Times New Roman"/>
              </a:rPr>
              <a:t> / Ubuntu /CentOS/ </a:t>
            </a:r>
            <a:r>
              <a:rPr lang="en-US" b="1" dirty="0" err="1">
                <a:latin typeface="Times New Roman"/>
                <a:cs typeface="Times New Roman"/>
              </a:rPr>
              <a:t>Suse</a:t>
            </a:r>
            <a:r>
              <a:rPr lang="en-US" b="1" dirty="0">
                <a:latin typeface="Times New Roman"/>
                <a:cs typeface="Times New Roman"/>
              </a:rPr>
              <a:t> / Mint / Alma /Rocky …)</a:t>
            </a:r>
          </a:p>
          <a:p>
            <a:pPr marL="342900" indent="-342900" algn="l">
              <a:buFont typeface="Wingdings" panose="05000000000000000000" pitchFamily="2" charset="2"/>
              <a:buChar char="Ø"/>
              <a:defRPr/>
            </a:pPr>
            <a:endParaRPr lang="en-US" b="1" dirty="0">
              <a:latin typeface="Times New Roman"/>
              <a:cs typeface="Times New Roman"/>
            </a:endParaRPr>
          </a:p>
          <a:p>
            <a:pPr marL="342900" indent="-342900" algn="l">
              <a:buFont typeface="Wingdings" panose="05000000000000000000" pitchFamily="2" charset="2"/>
              <a:buChar char="Ø"/>
              <a:defRPr/>
            </a:pPr>
            <a:r>
              <a:rPr lang="en-US" b="1" dirty="0">
                <a:latin typeface="Times New Roman"/>
                <a:cs typeface="Times New Roman"/>
              </a:rPr>
              <a:t>AIX from IBM</a:t>
            </a:r>
          </a:p>
          <a:p>
            <a:pPr marL="342900" indent="-342900" algn="l">
              <a:buFont typeface="Wingdings" panose="05000000000000000000" pitchFamily="2" charset="2"/>
              <a:buChar char="Ø"/>
              <a:defRPr/>
            </a:pPr>
            <a:endParaRPr lang="en-US" b="1" dirty="0">
              <a:latin typeface="Times New Roman"/>
              <a:cs typeface="Times New Roman"/>
            </a:endParaRPr>
          </a:p>
          <a:p>
            <a:pPr marL="342900" indent="-342900" algn="l">
              <a:buFont typeface="Wingdings" panose="05000000000000000000" pitchFamily="2" charset="2"/>
              <a:buChar char="Ø"/>
              <a:defRPr/>
            </a:pPr>
            <a:r>
              <a:rPr lang="en-US" b="1" dirty="0">
                <a:latin typeface="Times New Roman"/>
                <a:cs typeface="Times New Roman"/>
              </a:rPr>
              <a:t>MAC OS from Apple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56560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359193" name="Title 1"/>
          <p:cNvSpPr>
            <a:spLocks noGrp="1"/>
          </p:cNvSpPr>
          <p:nvPr>
            <p:ph type="ctrTitle"/>
          </p:nvPr>
        </p:nvSpPr>
        <p:spPr bwMode="auto">
          <a:xfrm>
            <a:off x="1694329" y="494518"/>
            <a:ext cx="9144000" cy="110568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Algerian"/>
              </a:rPr>
              <a:t>Linux Evolution</a:t>
            </a:r>
            <a:endParaRPr dirty="0"/>
          </a:p>
        </p:txBody>
      </p:sp>
      <p:sp>
        <p:nvSpPr>
          <p:cNvPr id="67824342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2408349"/>
            <a:ext cx="9144000" cy="2849451"/>
          </a:xfrm>
        </p:spPr>
        <p:txBody>
          <a:bodyPr>
            <a:normAutofit/>
          </a:bodyPr>
          <a:lstStyle/>
          <a:p>
            <a:pPr marL="342900" indent="-342900" algn="l">
              <a:buFont typeface="Wingdings"/>
              <a:buChar char="§"/>
              <a:defRPr/>
            </a:pPr>
            <a:r>
              <a:rPr lang="en-US" dirty="0">
                <a:latin typeface="Times New Roman"/>
                <a:cs typeface="Times New Roman"/>
              </a:rPr>
              <a:t>Started in 1990 by Linus Torvalds</a:t>
            </a:r>
            <a:endParaRPr dirty="0"/>
          </a:p>
          <a:p>
            <a:pPr marL="342900" indent="-342900" algn="l">
              <a:buFont typeface="Wingdings"/>
              <a:buChar char="§"/>
              <a:defRPr/>
            </a:pPr>
            <a:r>
              <a:rPr lang="en-US" dirty="0">
                <a:latin typeface="Times New Roman"/>
                <a:cs typeface="Times New Roman"/>
              </a:rPr>
              <a:t>Powering 100% top supercomputers (top500.org)</a:t>
            </a:r>
            <a:endParaRPr dirty="0"/>
          </a:p>
          <a:p>
            <a:pPr marL="342900" indent="-342900" algn="l">
              <a:buFont typeface="Wingdings"/>
              <a:buChar char="§"/>
              <a:defRPr/>
            </a:pPr>
            <a:r>
              <a:rPr lang="en-US" dirty="0">
                <a:latin typeface="Times New Roman"/>
                <a:cs typeface="Times New Roman"/>
              </a:rPr>
              <a:t>96% of servers worldwide</a:t>
            </a:r>
            <a:endParaRPr dirty="0"/>
          </a:p>
          <a:p>
            <a:pPr marL="342900" indent="-342900" algn="l">
              <a:buFont typeface="Wingdings"/>
              <a:buChar char="§"/>
              <a:defRPr/>
            </a:pPr>
            <a:r>
              <a:rPr lang="en-US" dirty="0">
                <a:latin typeface="Times New Roman"/>
                <a:cs typeface="Times New Roman"/>
              </a:rPr>
              <a:t>Android devices</a:t>
            </a:r>
            <a:endParaRPr dirty="0"/>
          </a:p>
          <a:p>
            <a:pPr marL="342900" indent="-342900" algn="l">
              <a:buFont typeface="Wingdings"/>
              <a:buChar char="§"/>
              <a:defRPr/>
            </a:pPr>
            <a:r>
              <a:rPr lang="en-US" dirty="0">
                <a:latin typeface="Times New Roman"/>
                <a:cs typeface="Times New Roman"/>
              </a:rPr>
              <a:t>GPL license adoption</a:t>
            </a:r>
            <a:endParaRPr dirty="0"/>
          </a:p>
          <a:p>
            <a:pPr marL="342900" indent="-342900" algn="l">
              <a:buFont typeface="Wingdings"/>
              <a:buChar char="§"/>
              <a:defRPr/>
            </a:pPr>
            <a:r>
              <a:rPr lang="en-US" dirty="0">
                <a:latin typeface="Times New Roman"/>
                <a:cs typeface="Times New Roman"/>
              </a:rPr>
              <a:t>Kernel 1.0 in 1994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938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336898" name="Title 1"/>
          <p:cNvSpPr>
            <a:spLocks noGrp="1"/>
          </p:cNvSpPr>
          <p:nvPr>
            <p:ph type="ctrTitle"/>
          </p:nvPr>
        </p:nvSpPr>
        <p:spPr bwMode="auto">
          <a:xfrm>
            <a:off x="1819835" y="494518"/>
            <a:ext cx="9144000" cy="110568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Algerian"/>
              </a:rPr>
              <a:t>Linux Evolution</a:t>
            </a:r>
            <a:endParaRPr dirty="0"/>
          </a:p>
        </p:txBody>
      </p:sp>
      <p:sp>
        <p:nvSpPr>
          <p:cNvPr id="2533422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2408349"/>
            <a:ext cx="9144000" cy="2849451"/>
          </a:xfrm>
        </p:spPr>
        <p:txBody>
          <a:bodyPr/>
          <a:lstStyle/>
          <a:p>
            <a:pPr marL="342900" indent="-342900" algn="l">
              <a:buFont typeface="Arial"/>
              <a:buChar char="•"/>
              <a:defRPr/>
            </a:pPr>
            <a:r>
              <a:rPr lang="en-US">
                <a:latin typeface="Times New Roman"/>
                <a:cs typeface="Times New Roman"/>
              </a:rPr>
              <a:t>Major companies adopted linux like IBM/DELL</a:t>
            </a:r>
            <a:endParaRPr/>
          </a:p>
          <a:p>
            <a:pPr marL="342900" indent="-342900" algn="l">
              <a:buFont typeface="Arial"/>
              <a:buChar char="•"/>
              <a:defRPr/>
            </a:pPr>
            <a:r>
              <a:rPr lang="en-US">
                <a:latin typeface="Times New Roman"/>
                <a:cs typeface="Times New Roman"/>
              </a:rPr>
              <a:t>2004: desktop accessibility</a:t>
            </a:r>
            <a:endParaRPr/>
          </a:p>
          <a:p>
            <a:pPr marL="342900" indent="-342900" algn="l">
              <a:buFont typeface="Arial"/>
              <a:buChar char="•"/>
              <a:defRPr/>
            </a:pPr>
            <a:r>
              <a:rPr lang="en-US">
                <a:latin typeface="Times New Roman"/>
                <a:cs typeface="Times New Roman"/>
              </a:rPr>
              <a:t>2005: GIT control</a:t>
            </a:r>
            <a:endParaRPr/>
          </a:p>
          <a:p>
            <a:pPr marL="342900" indent="-342900" algn="l">
              <a:buFont typeface="Arial"/>
              <a:buChar char="•"/>
              <a:defRPr/>
            </a:pPr>
            <a:r>
              <a:rPr lang="en-US">
                <a:latin typeface="Times New Roman"/>
                <a:cs typeface="Times New Roman"/>
              </a:rPr>
              <a:t>2010: cloud computing, DevOps and mobile technology</a:t>
            </a:r>
            <a:endParaRPr/>
          </a:p>
          <a:p>
            <a:pPr algn="l"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219424" name="Title 1"/>
          <p:cNvSpPr>
            <a:spLocks noGrp="1"/>
          </p:cNvSpPr>
          <p:nvPr>
            <p:ph type="title"/>
          </p:nvPr>
        </p:nvSpPr>
        <p:spPr bwMode="auto">
          <a:xfrm>
            <a:off x="3240741" y="365125"/>
            <a:ext cx="7086600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Key Components</a:t>
            </a:r>
            <a:endParaRPr dirty="0"/>
          </a:p>
        </p:txBody>
      </p:sp>
      <p:sp>
        <p:nvSpPr>
          <p:cNvPr id="119730742" name="Content Placeholder 2"/>
          <p:cNvSpPr>
            <a:spLocks noGrp="1"/>
          </p:cNvSpPr>
          <p:nvPr>
            <p:ph idx="1"/>
          </p:nvPr>
        </p:nvSpPr>
        <p:spPr bwMode="auto">
          <a:xfrm>
            <a:off x="2451847" y="1789766"/>
            <a:ext cx="7543800" cy="4351338"/>
          </a:xfrm>
        </p:spPr>
        <p:txBody>
          <a:bodyPr/>
          <a:lstStyle/>
          <a:p>
            <a:pPr>
              <a:defRPr/>
            </a:pPr>
            <a:endParaRPr lang="en-US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dirty="0">
                <a:latin typeface="Times New Roman"/>
                <a:cs typeface="Times New Roman"/>
              </a:rPr>
              <a:t>Kernel and GNU</a:t>
            </a:r>
            <a:endParaRPr dirty="0"/>
          </a:p>
          <a:p>
            <a:pPr>
              <a:defRPr/>
            </a:pPr>
            <a:endParaRPr lang="en-US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dirty="0">
                <a:latin typeface="Times New Roman"/>
                <a:cs typeface="Times New Roman"/>
              </a:rPr>
              <a:t>Distributions</a:t>
            </a:r>
            <a:endParaRPr dirty="0"/>
          </a:p>
          <a:p>
            <a:pPr>
              <a:defRPr/>
            </a:pPr>
            <a:endParaRPr lang="en-US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dirty="0">
                <a:latin typeface="Times New Roman"/>
                <a:cs typeface="Times New Roman"/>
              </a:rPr>
              <a:t>Open Source</a:t>
            </a:r>
            <a:endParaRPr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342630" name="Title 1"/>
          <p:cNvSpPr>
            <a:spLocks noGrp="1"/>
          </p:cNvSpPr>
          <p:nvPr>
            <p:ph type="title"/>
          </p:nvPr>
        </p:nvSpPr>
        <p:spPr bwMode="auto">
          <a:xfrm>
            <a:off x="3411071" y="293408"/>
            <a:ext cx="8180294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Roots in </a:t>
            </a:r>
            <a:r>
              <a:rPr lang="en-US" dirty="0" err="1">
                <a:latin typeface="Algerian"/>
              </a:rPr>
              <a:t>unix</a:t>
            </a:r>
            <a:r>
              <a:rPr lang="en-US" dirty="0">
                <a:latin typeface="Algerian"/>
              </a:rPr>
              <a:t> OS</a:t>
            </a:r>
            <a:endParaRPr dirty="0"/>
          </a:p>
        </p:txBody>
      </p:sp>
      <p:sp>
        <p:nvSpPr>
          <p:cNvPr id="707221403" name="Content Placeholder 2"/>
          <p:cNvSpPr>
            <a:spLocks noGrp="1"/>
          </p:cNvSpPr>
          <p:nvPr>
            <p:ph idx="1"/>
          </p:nvPr>
        </p:nvSpPr>
        <p:spPr bwMode="auto">
          <a:xfrm>
            <a:off x="2236695" y="1618971"/>
            <a:ext cx="9157447" cy="4351338"/>
          </a:xfrm>
        </p:spPr>
        <p:txBody>
          <a:bodyPr/>
          <a:lstStyle/>
          <a:p>
            <a:pPr>
              <a:buFont typeface="Wingdings"/>
              <a:buChar char="§"/>
              <a:defRPr/>
            </a:pPr>
            <a:r>
              <a:rPr lang="en-US" dirty="0">
                <a:latin typeface="Times New Roman"/>
                <a:cs typeface="Times New Roman"/>
              </a:rPr>
              <a:t>Beginning of </a:t>
            </a:r>
            <a:r>
              <a:rPr lang="en-US" dirty="0" err="1">
                <a:latin typeface="Times New Roman"/>
                <a:cs typeface="Times New Roman"/>
              </a:rPr>
              <a:t>unix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dirty="0">
                <a:latin typeface="Times New Roman"/>
                <a:cs typeface="Times New Roman"/>
              </a:rPr>
              <a:t>1972: Thompson &amp; Richie re-wrote </a:t>
            </a:r>
            <a:r>
              <a:rPr lang="en-US" dirty="0" err="1">
                <a:latin typeface="Times New Roman"/>
                <a:cs typeface="Times New Roman"/>
              </a:rPr>
              <a:t>unix</a:t>
            </a:r>
            <a:r>
              <a:rPr lang="en-US" dirty="0">
                <a:latin typeface="Times New Roman"/>
                <a:cs typeface="Times New Roman"/>
              </a:rPr>
              <a:t> in C</a:t>
            </a:r>
            <a:endParaRPr dirty="0"/>
          </a:p>
          <a:p>
            <a:pPr>
              <a:buFont typeface="Wingdings"/>
              <a:buChar char="§"/>
              <a:defRPr/>
            </a:pPr>
            <a:r>
              <a:rPr lang="en-US" dirty="0">
                <a:latin typeface="Times New Roman"/>
                <a:cs typeface="Times New Roman"/>
              </a:rPr>
              <a:t>Berkely Software Distribution</a:t>
            </a:r>
            <a:endParaRPr dirty="0"/>
          </a:p>
          <a:p>
            <a:pPr marL="0" indent="0">
              <a:buNone/>
              <a:defRPr/>
            </a:pPr>
            <a:r>
              <a:rPr lang="en-US" dirty="0">
                <a:latin typeface="Times New Roman"/>
                <a:cs typeface="Times New Roman"/>
              </a:rPr>
              <a:t>	NeXT OS &gt;  mac OS</a:t>
            </a:r>
            <a:endParaRPr dirty="0"/>
          </a:p>
          <a:p>
            <a:pPr marL="0" indent="0">
              <a:buNone/>
              <a:defRPr/>
            </a:pPr>
            <a:r>
              <a:rPr lang="en-US" dirty="0">
                <a:latin typeface="Times New Roman"/>
                <a:cs typeface="Times New Roman"/>
              </a:rPr>
              <a:t>	</a:t>
            </a:r>
            <a:r>
              <a:rPr lang="en-US" dirty="0" err="1">
                <a:latin typeface="Times New Roman"/>
                <a:cs typeface="Times New Roman"/>
              </a:rPr>
              <a:t>Minix</a:t>
            </a:r>
            <a:r>
              <a:rPr lang="en-US" dirty="0">
                <a:latin typeface="Times New Roman"/>
                <a:cs typeface="Times New Roman"/>
              </a:rPr>
              <a:t>  &gt; Linux</a:t>
            </a:r>
            <a:endParaRPr dirty="0"/>
          </a:p>
          <a:p>
            <a:pPr>
              <a:buFont typeface="Wingdings"/>
              <a:buChar char="§"/>
              <a:defRPr/>
            </a:pPr>
            <a:r>
              <a:rPr lang="en-US" dirty="0">
                <a:latin typeface="Times New Roman"/>
                <a:cs typeface="Times New Roman"/>
              </a:rPr>
              <a:t>Variants: HP-UX from HP</a:t>
            </a:r>
            <a:endParaRPr dirty="0"/>
          </a:p>
          <a:p>
            <a:pPr marL="0" indent="0">
              <a:buNone/>
              <a:defRPr/>
            </a:pPr>
            <a:r>
              <a:rPr lang="en-US" dirty="0">
                <a:latin typeface="Times New Roman"/>
                <a:cs typeface="Times New Roman"/>
              </a:rPr>
              <a:t>	      Solaris from Sun Micro(oracle)</a:t>
            </a:r>
            <a:endParaRPr dirty="0"/>
          </a:p>
          <a:p>
            <a:pPr marL="0" indent="0">
              <a:buNone/>
              <a:defRPr/>
            </a:pPr>
            <a:r>
              <a:rPr lang="en-US" dirty="0">
                <a:latin typeface="Times New Roman"/>
                <a:cs typeface="Times New Roman"/>
              </a:rPr>
              <a:t>                 AIX from IBM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960856" name="Title 1"/>
          <p:cNvSpPr>
            <a:spLocks noGrp="1"/>
          </p:cNvSpPr>
          <p:nvPr>
            <p:ph type="title"/>
          </p:nvPr>
        </p:nvSpPr>
        <p:spPr bwMode="auto">
          <a:xfrm>
            <a:off x="2998694" y="374090"/>
            <a:ext cx="7364506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Features of Unix</a:t>
            </a:r>
            <a:endParaRPr dirty="0"/>
          </a:p>
        </p:txBody>
      </p:sp>
      <p:sp>
        <p:nvSpPr>
          <p:cNvPr id="755690611" name="Content Placeholder 2"/>
          <p:cNvSpPr>
            <a:spLocks noGrp="1"/>
          </p:cNvSpPr>
          <p:nvPr>
            <p:ph idx="1"/>
          </p:nvPr>
        </p:nvSpPr>
        <p:spPr bwMode="auto">
          <a:xfrm>
            <a:off x="2153770" y="1807695"/>
            <a:ext cx="7884459" cy="4351338"/>
          </a:xfrm>
        </p:spPr>
        <p:txBody>
          <a:bodyPr/>
          <a:lstStyle/>
          <a:p>
            <a:pPr>
              <a:defRPr/>
            </a:pPr>
            <a:endParaRPr lang="en-US" dirty="0"/>
          </a:p>
          <a:p>
            <a:pPr>
              <a:buFont typeface="Wingdings"/>
              <a:buChar char="§"/>
              <a:defRPr/>
            </a:pPr>
            <a:r>
              <a:rPr lang="en-US" dirty="0">
                <a:latin typeface="Times New Roman"/>
                <a:cs typeface="Times New Roman"/>
              </a:rPr>
              <a:t>Clarity</a:t>
            </a:r>
            <a:endParaRPr dirty="0"/>
          </a:p>
          <a:p>
            <a:pPr>
              <a:buFont typeface="Wingdings"/>
              <a:buChar char="§"/>
              <a:defRPr/>
            </a:pPr>
            <a:endParaRPr lang="en-US" dirty="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dirty="0">
                <a:latin typeface="Times New Roman"/>
                <a:cs typeface="Times New Roman"/>
              </a:rPr>
              <a:t>Portability</a:t>
            </a:r>
            <a:endParaRPr dirty="0"/>
          </a:p>
          <a:p>
            <a:pPr>
              <a:buFont typeface="Wingdings"/>
              <a:buChar char="§"/>
              <a:defRPr/>
            </a:pPr>
            <a:endParaRPr lang="en-US" dirty="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dirty="0">
                <a:latin typeface="Times New Roman"/>
                <a:cs typeface="Times New Roman"/>
              </a:rPr>
              <a:t>Multi-sharing/Multi-tasking/Multi-user OS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967739" name="Title 1"/>
          <p:cNvSpPr>
            <a:spLocks noGrp="1"/>
          </p:cNvSpPr>
          <p:nvPr>
            <p:ph type="title"/>
          </p:nvPr>
        </p:nvSpPr>
        <p:spPr bwMode="auto">
          <a:xfrm>
            <a:off x="2649071" y="311337"/>
            <a:ext cx="7525871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Features of Linux</a:t>
            </a:r>
            <a:endParaRPr dirty="0"/>
          </a:p>
        </p:txBody>
      </p:sp>
      <p:sp>
        <p:nvSpPr>
          <p:cNvPr id="960601022" name="Content Placeholder 2"/>
          <p:cNvSpPr>
            <a:spLocks noGrp="1"/>
          </p:cNvSpPr>
          <p:nvPr>
            <p:ph idx="1"/>
          </p:nvPr>
        </p:nvSpPr>
        <p:spPr bwMode="auto">
          <a:xfrm>
            <a:off x="2961387" y="1544344"/>
            <a:ext cx="8293855" cy="398072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7500" lnSpcReduction="20000"/>
          </a:bodyPr>
          <a:lstStyle/>
          <a:p>
            <a:pPr>
              <a:buFont typeface="Wingdings"/>
              <a:buChar char="§"/>
              <a:defRPr/>
            </a:pPr>
            <a:endParaRPr lang="en-US"/>
          </a:p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Free and Open- Source</a:t>
            </a:r>
            <a:endParaRPr/>
          </a:p>
          <a:p>
            <a:pPr>
              <a:buFont typeface="Wingdings"/>
              <a:buChar char="§"/>
              <a:defRPr/>
            </a:pPr>
            <a:endParaRPr lang="en-US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Monolithic Kernel</a:t>
            </a:r>
            <a:endParaRPr/>
          </a:p>
          <a:p>
            <a:pPr>
              <a:buFont typeface="Wingdings"/>
              <a:buChar char="§"/>
              <a:defRPr/>
            </a:pPr>
            <a:endParaRPr lang="en-US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SMP Support</a:t>
            </a:r>
            <a:endParaRPr/>
          </a:p>
          <a:p>
            <a:pPr>
              <a:buFont typeface="Wingdings"/>
              <a:buChar char="§"/>
              <a:defRPr/>
            </a:pPr>
            <a:endParaRPr lang="en-US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Kernel is independent</a:t>
            </a:r>
            <a:endParaRPr/>
          </a:p>
          <a:p>
            <a:pPr>
              <a:buFont typeface="Wingdings"/>
              <a:buChar char="§"/>
              <a:defRPr/>
            </a:pPr>
            <a:endParaRPr lang="en-US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CLI and GUI interface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789758" name="Title 1"/>
          <p:cNvSpPr>
            <a:spLocks noGrp="1"/>
          </p:cNvSpPr>
          <p:nvPr>
            <p:ph type="title"/>
          </p:nvPr>
        </p:nvSpPr>
        <p:spPr bwMode="auto">
          <a:xfrm>
            <a:off x="2889266" y="194796"/>
            <a:ext cx="8216153" cy="1033369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Features of Linux</a:t>
            </a:r>
            <a:endParaRPr dirty="0"/>
          </a:p>
        </p:txBody>
      </p:sp>
      <p:sp>
        <p:nvSpPr>
          <p:cNvPr id="1139588845" name="Content Placeholder 2"/>
          <p:cNvSpPr>
            <a:spLocks noGrp="1"/>
          </p:cNvSpPr>
          <p:nvPr>
            <p:ph idx="1"/>
          </p:nvPr>
        </p:nvSpPr>
        <p:spPr bwMode="auto">
          <a:xfrm>
            <a:off x="2683959" y="1369279"/>
            <a:ext cx="8626768" cy="411944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/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Over 500+ distributions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Distros tailored for diverse needs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Free and subscription based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Popular (ubuntu/redhat/rocky/suse/fedora/centos/kali/alma etc)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CLI and GUI interface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Package manager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Co-existence with other 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746349" name="Title 1"/>
          <p:cNvSpPr>
            <a:spLocks noGrp="1"/>
          </p:cNvSpPr>
          <p:nvPr>
            <p:ph type="title"/>
          </p:nvPr>
        </p:nvSpPr>
        <p:spPr bwMode="auto">
          <a:xfrm>
            <a:off x="3204883" y="185831"/>
            <a:ext cx="7230035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Linux Hardware </a:t>
            </a:r>
            <a:endParaRPr dirty="0"/>
          </a:p>
        </p:txBody>
      </p:sp>
      <p:sp>
        <p:nvSpPr>
          <p:cNvPr id="1940287811" name="Content Placeholder 2"/>
          <p:cNvSpPr>
            <a:spLocks noGrp="1"/>
          </p:cNvSpPr>
          <p:nvPr>
            <p:ph idx="1"/>
          </p:nvPr>
        </p:nvSpPr>
        <p:spPr bwMode="auto">
          <a:xfrm>
            <a:off x="2891117" y="1709084"/>
            <a:ext cx="7427259" cy="4351338"/>
          </a:xfrm>
        </p:spPr>
        <p:txBody>
          <a:bodyPr/>
          <a:lstStyle/>
          <a:p>
            <a:pPr>
              <a:buFont typeface="Wingdings"/>
              <a:buChar char="§"/>
              <a:defRPr/>
            </a:pPr>
            <a:r>
              <a:rPr lang="en-US" dirty="0">
                <a:latin typeface="Times New Roman"/>
                <a:cs typeface="Times New Roman"/>
              </a:rPr>
              <a:t>Bare minimum </a:t>
            </a:r>
            <a:endParaRPr dirty="0"/>
          </a:p>
          <a:p>
            <a:pPr lvl="1">
              <a:defRPr/>
            </a:pPr>
            <a:r>
              <a:rPr lang="en-US" dirty="0">
                <a:latin typeface="Times New Roman"/>
                <a:cs typeface="Times New Roman"/>
              </a:rPr>
              <a:t>1 GB RAM</a:t>
            </a:r>
            <a:endParaRPr dirty="0"/>
          </a:p>
          <a:p>
            <a:pPr lvl="1">
              <a:defRPr/>
            </a:pPr>
            <a:r>
              <a:rPr lang="en-US" dirty="0">
                <a:latin typeface="Times New Roman"/>
                <a:cs typeface="Times New Roman"/>
              </a:rPr>
              <a:t>10 GB HDD</a:t>
            </a:r>
            <a:endParaRPr dirty="0"/>
          </a:p>
          <a:p>
            <a:pPr lvl="1">
              <a:defRPr/>
            </a:pPr>
            <a:r>
              <a:rPr lang="en-US" dirty="0">
                <a:latin typeface="Times New Roman"/>
                <a:cs typeface="Times New Roman"/>
              </a:rPr>
              <a:t>16bit processor</a:t>
            </a:r>
            <a:endParaRPr dirty="0"/>
          </a:p>
          <a:p>
            <a:pPr lvl="1">
              <a:defRPr/>
            </a:pPr>
            <a:endParaRPr lang="en-US" dirty="0">
              <a:latin typeface="Times New Roman"/>
              <a:cs typeface="Times New Roman"/>
            </a:endParaRPr>
          </a:p>
          <a:p>
            <a:pPr lvl="1">
              <a:buFont typeface="Wingdings"/>
              <a:buChar char="§"/>
              <a:defRPr/>
            </a:pPr>
            <a:r>
              <a:rPr lang="en-US" dirty="0">
                <a:latin typeface="Times New Roman"/>
                <a:cs typeface="Times New Roman"/>
              </a:rPr>
              <a:t>Runs on high end Super Computers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940963" name="Title 1"/>
          <p:cNvSpPr>
            <a:spLocks noGrp="1"/>
          </p:cNvSpPr>
          <p:nvPr>
            <p:ph type="title"/>
          </p:nvPr>
        </p:nvSpPr>
        <p:spPr bwMode="auto">
          <a:xfrm>
            <a:off x="3276600" y="228028"/>
            <a:ext cx="8225118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  <a:cs typeface="Times New Roman"/>
              </a:rPr>
              <a:t>Features of Linux</a:t>
            </a:r>
            <a:endParaRPr dirty="0"/>
          </a:p>
        </p:txBody>
      </p:sp>
      <p:sp>
        <p:nvSpPr>
          <p:cNvPr id="2104670437" name="Content Placeholder 2"/>
          <p:cNvSpPr>
            <a:spLocks noGrp="1"/>
          </p:cNvSpPr>
          <p:nvPr>
            <p:ph idx="1"/>
          </p:nvPr>
        </p:nvSpPr>
        <p:spPr bwMode="auto">
          <a:xfrm>
            <a:off x="2804178" y="1553591"/>
            <a:ext cx="7988685" cy="4174926"/>
          </a:xfrm>
        </p:spPr>
        <p:txBody>
          <a:bodyPr>
            <a:normAutofit/>
          </a:bodyPr>
          <a:lstStyle/>
          <a:p>
            <a:pPr algn="l">
              <a:buFont typeface="Wingdings"/>
              <a:buChar char="§"/>
              <a:defRPr/>
            </a:pPr>
            <a:endParaRPr lang="en-US" sz="2000" b="0" i="0" u="none" strike="noStrike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Multi-user capability</a:t>
            </a:r>
            <a:endParaRPr/>
          </a:p>
          <a:p>
            <a:pPr marL="0" indent="0" algn="l">
              <a:buNone/>
              <a:defRPr/>
            </a:pPr>
            <a:r>
              <a:rPr lang="en-US" sz="2000" b="0" i="0" u="none" strike="noStrike">
                <a:solidFill>
                  <a:srgbClr val="91C325"/>
                </a:solidFill>
                <a:latin typeface="Times New Roman"/>
                <a:cs typeface="Times New Roman"/>
              </a:rPr>
              <a:t> 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Multi-tasking capability</a:t>
            </a:r>
            <a:endParaRPr/>
          </a:p>
          <a:p>
            <a:pPr algn="l">
              <a:buFont typeface="Wingdings"/>
              <a:buChar char="§"/>
              <a:defRPr/>
            </a:pPr>
            <a:endParaRPr lang="en-US" sz="2000" b="0" i="0" u="none" strike="noStrike">
              <a:solidFill>
                <a:srgbClr val="91C325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91C325"/>
                </a:solidFill>
                <a:latin typeface="Times New Roman"/>
                <a:cs typeface="Times New Roman"/>
              </a:rPr>
              <a:t> </a:t>
            </a: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Communication</a:t>
            </a:r>
            <a:endParaRPr/>
          </a:p>
          <a:p>
            <a:pPr algn="l">
              <a:buFont typeface="Wingdings"/>
              <a:buChar char="§"/>
              <a:defRPr/>
            </a:pPr>
            <a:endParaRPr lang="en-US" sz="2000" b="0" i="0" u="none" strike="noStrike">
              <a:solidFill>
                <a:srgbClr val="91C325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91C325"/>
                </a:solidFill>
                <a:latin typeface="Times New Roman"/>
                <a:cs typeface="Times New Roman"/>
              </a:rPr>
              <a:t> </a:t>
            </a: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Security</a:t>
            </a:r>
            <a:endParaRPr/>
          </a:p>
          <a:p>
            <a:pPr marL="0" indent="0" algn="l">
              <a:buNone/>
              <a:defRPr/>
            </a:pPr>
            <a:endParaRPr lang="en-US" sz="2000" b="0" i="0" u="none" strike="noStrike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Portability</a:t>
            </a:r>
            <a:endParaRPr lang="en-US"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829846" name="Title 1"/>
          <p:cNvSpPr>
            <a:spLocks noGrp="1"/>
          </p:cNvSpPr>
          <p:nvPr>
            <p:ph type="title"/>
          </p:nvPr>
        </p:nvSpPr>
        <p:spPr bwMode="auto">
          <a:xfrm>
            <a:off x="2846294" y="92075"/>
            <a:ext cx="8556812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Functions of Linux</a:t>
            </a:r>
            <a:endParaRPr dirty="0"/>
          </a:p>
        </p:txBody>
      </p:sp>
      <p:sp>
        <p:nvSpPr>
          <p:cNvPr id="1879292940" name="Content Placeholder 2"/>
          <p:cNvSpPr>
            <a:spLocks noGrp="1"/>
          </p:cNvSpPr>
          <p:nvPr>
            <p:ph idx="1"/>
          </p:nvPr>
        </p:nvSpPr>
        <p:spPr bwMode="auto">
          <a:xfrm>
            <a:off x="3433012" y="1417638"/>
            <a:ext cx="8256865" cy="425815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0000" lnSpcReduction="20000"/>
          </a:bodyPr>
          <a:lstStyle/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Server OS</a:t>
            </a:r>
            <a:endParaRPr/>
          </a:p>
          <a:p>
            <a:pPr>
              <a:buFont typeface="Wingdings"/>
              <a:buChar char="§"/>
              <a:defRPr/>
            </a:pPr>
            <a:endParaRPr lang="en-US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Desktop OS</a:t>
            </a:r>
            <a:endParaRPr/>
          </a:p>
          <a:p>
            <a:pPr>
              <a:buFont typeface="Wingdings"/>
              <a:buChar char="§"/>
              <a:defRPr/>
            </a:pPr>
            <a:endParaRPr lang="en-US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Software Development OS</a:t>
            </a:r>
            <a:endParaRPr/>
          </a:p>
          <a:p>
            <a:pPr>
              <a:buFont typeface="Wingdings"/>
              <a:buChar char="§"/>
              <a:defRPr/>
            </a:pPr>
            <a:endParaRPr lang="en-US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Embedded OS</a:t>
            </a:r>
            <a:endParaRPr/>
          </a:p>
          <a:p>
            <a:pPr>
              <a:buFont typeface="Wingdings"/>
              <a:buChar char="§"/>
              <a:defRPr/>
            </a:pPr>
            <a:endParaRPr lang="en-US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Open-Source OS</a:t>
            </a:r>
            <a:endParaRPr/>
          </a:p>
          <a:p>
            <a:pPr marL="0" indent="0">
              <a:buNone/>
              <a:defRPr/>
            </a:pPr>
            <a:endParaRPr lang="en-US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>
                <a:latin typeface="Times New Roman"/>
                <a:cs typeface="Times New Roman"/>
              </a:rPr>
              <a:t>Cluster 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78891" name="Title 1"/>
          <p:cNvSpPr>
            <a:spLocks noGrp="1"/>
          </p:cNvSpPr>
          <p:nvPr>
            <p:ph type="title"/>
          </p:nvPr>
        </p:nvSpPr>
        <p:spPr bwMode="auto">
          <a:xfrm>
            <a:off x="2460811" y="154048"/>
            <a:ext cx="8610600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Linux Applications</a:t>
            </a:r>
            <a:endParaRPr dirty="0"/>
          </a:p>
        </p:txBody>
      </p:sp>
      <p:sp>
        <p:nvSpPr>
          <p:cNvPr id="1198747150" name="Content Placeholder 2"/>
          <p:cNvSpPr>
            <a:spLocks noGrp="1"/>
          </p:cNvSpPr>
          <p:nvPr>
            <p:ph idx="1"/>
          </p:nvPr>
        </p:nvSpPr>
        <p:spPr bwMode="auto">
          <a:xfrm>
            <a:off x="3072357" y="1479611"/>
            <a:ext cx="8062666" cy="4082450"/>
          </a:xfrm>
        </p:spPr>
        <p:txBody>
          <a:bodyPr>
            <a:normAutofit/>
          </a:bodyPr>
          <a:lstStyle/>
          <a:p>
            <a:pPr>
              <a:buFont typeface="Wingdings"/>
              <a:buChar char="§"/>
              <a:defRPr/>
            </a:pPr>
            <a:r>
              <a:rPr lang="en-US" sz="2400" dirty="0">
                <a:latin typeface="Times New Roman"/>
                <a:cs typeface="Times New Roman"/>
              </a:rPr>
              <a:t>DNS Server</a:t>
            </a:r>
            <a:endParaRPr dirty="0"/>
          </a:p>
          <a:p>
            <a:pPr>
              <a:buFont typeface="Wingdings"/>
              <a:buChar char="§"/>
              <a:defRPr/>
            </a:pPr>
            <a:r>
              <a:rPr lang="en-US" sz="2400" dirty="0">
                <a:latin typeface="Times New Roman"/>
                <a:cs typeface="Times New Roman"/>
              </a:rPr>
              <a:t>DHCP Server</a:t>
            </a:r>
            <a:endParaRPr dirty="0"/>
          </a:p>
          <a:p>
            <a:pPr>
              <a:buFont typeface="Wingdings"/>
              <a:buChar char="§"/>
              <a:defRPr/>
            </a:pPr>
            <a:r>
              <a:rPr lang="en-US" sz="2400" dirty="0">
                <a:latin typeface="Times New Roman"/>
                <a:cs typeface="Times New Roman"/>
              </a:rPr>
              <a:t>Web Server</a:t>
            </a:r>
            <a:endParaRPr dirty="0"/>
          </a:p>
          <a:p>
            <a:pPr>
              <a:buFont typeface="Wingdings"/>
              <a:buChar char="§"/>
              <a:defRPr/>
            </a:pPr>
            <a:r>
              <a:rPr lang="en-US" sz="2400" dirty="0">
                <a:latin typeface="Times New Roman"/>
                <a:cs typeface="Times New Roman"/>
              </a:rPr>
              <a:t>HPC Cluster</a:t>
            </a:r>
            <a:endParaRPr dirty="0"/>
          </a:p>
          <a:p>
            <a:pPr>
              <a:buFont typeface="Wingdings"/>
              <a:buChar char="§"/>
              <a:defRPr/>
            </a:pPr>
            <a:r>
              <a:rPr lang="en-US" sz="2400" dirty="0">
                <a:latin typeface="Times New Roman"/>
                <a:cs typeface="Times New Roman"/>
              </a:rPr>
              <a:t>Firewall</a:t>
            </a:r>
            <a:endParaRPr dirty="0"/>
          </a:p>
          <a:p>
            <a:pPr>
              <a:buFont typeface="Wingdings"/>
              <a:buChar char="§"/>
              <a:defRPr/>
            </a:pPr>
            <a:r>
              <a:rPr lang="en-US" sz="2400" dirty="0">
                <a:latin typeface="Times New Roman"/>
                <a:cs typeface="Times New Roman"/>
              </a:rPr>
              <a:t>Cloud Servers</a:t>
            </a:r>
            <a:endParaRPr dirty="0"/>
          </a:p>
          <a:p>
            <a:pPr>
              <a:buFont typeface="Wingdings"/>
              <a:buChar char="§"/>
              <a:defRPr/>
            </a:pPr>
            <a:r>
              <a:rPr lang="en-US" sz="2400" dirty="0">
                <a:latin typeface="Times New Roman"/>
                <a:cs typeface="Times New Roman"/>
              </a:rPr>
              <a:t>Many more……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779019" name="Title 1"/>
          <p:cNvSpPr>
            <a:spLocks noGrp="1"/>
          </p:cNvSpPr>
          <p:nvPr>
            <p:ph type="title"/>
          </p:nvPr>
        </p:nvSpPr>
        <p:spPr bwMode="auto">
          <a:xfrm>
            <a:off x="3151094" y="172543"/>
            <a:ext cx="7831476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Linux used in</a:t>
            </a:r>
            <a:endParaRPr dirty="0"/>
          </a:p>
        </p:txBody>
      </p:sp>
      <p:sp>
        <p:nvSpPr>
          <p:cNvPr id="949897235" name="Content Placeholder 2"/>
          <p:cNvSpPr>
            <a:spLocks noGrp="1"/>
          </p:cNvSpPr>
          <p:nvPr>
            <p:ph idx="1"/>
          </p:nvPr>
        </p:nvSpPr>
        <p:spPr bwMode="auto">
          <a:xfrm>
            <a:off x="3303547" y="1498106"/>
            <a:ext cx="7831476" cy="4174926"/>
          </a:xfrm>
        </p:spPr>
        <p:txBody>
          <a:bodyPr/>
          <a:lstStyle/>
          <a:p>
            <a:pPr>
              <a:buFont typeface="Wingdings"/>
              <a:buChar char="§"/>
              <a:defRPr/>
            </a:pPr>
            <a:r>
              <a:rPr lang="en-US" sz="2400" dirty="0">
                <a:latin typeface="Times New Roman"/>
                <a:cs typeface="Times New Roman"/>
              </a:rPr>
              <a:t>Internet</a:t>
            </a:r>
            <a:endParaRPr dirty="0"/>
          </a:p>
          <a:p>
            <a:pPr>
              <a:buFont typeface="Wingdings"/>
              <a:buChar char="§"/>
              <a:defRPr/>
            </a:pPr>
            <a:r>
              <a:rPr lang="en-US" sz="2400" dirty="0">
                <a:latin typeface="Times New Roman"/>
                <a:cs typeface="Times New Roman"/>
              </a:rPr>
              <a:t>Mobile Devices</a:t>
            </a:r>
            <a:endParaRPr dirty="0"/>
          </a:p>
          <a:p>
            <a:pPr>
              <a:buFont typeface="Wingdings"/>
              <a:buChar char="§"/>
              <a:defRPr/>
            </a:pPr>
            <a:r>
              <a:rPr lang="en-US" sz="2400" dirty="0">
                <a:latin typeface="Times New Roman"/>
                <a:cs typeface="Times New Roman"/>
              </a:rPr>
              <a:t>Network Devices</a:t>
            </a:r>
            <a:endParaRPr dirty="0"/>
          </a:p>
          <a:p>
            <a:pPr>
              <a:buFont typeface="Wingdings"/>
              <a:buChar char="§"/>
              <a:defRPr/>
            </a:pPr>
            <a:r>
              <a:rPr lang="en-US" sz="2400" dirty="0">
                <a:latin typeface="Times New Roman"/>
                <a:cs typeface="Times New Roman"/>
              </a:rPr>
              <a:t>Desktops &amp; laptops</a:t>
            </a:r>
            <a:endParaRPr dirty="0"/>
          </a:p>
          <a:p>
            <a:pPr>
              <a:buFont typeface="Wingdings"/>
              <a:buChar char="§"/>
              <a:defRPr/>
            </a:pPr>
            <a:r>
              <a:rPr lang="en-US" sz="2400" dirty="0">
                <a:latin typeface="Times New Roman"/>
                <a:cs typeface="Times New Roman"/>
              </a:rPr>
              <a:t>Super Computers (top500)</a:t>
            </a:r>
            <a:endParaRPr dirty="0"/>
          </a:p>
          <a:p>
            <a:pPr>
              <a:buFont typeface="Wingdings"/>
              <a:buChar char="§"/>
              <a:defRPr/>
            </a:pPr>
            <a:r>
              <a:rPr lang="en-US" sz="2400" dirty="0">
                <a:latin typeface="Times New Roman"/>
                <a:cs typeface="Times New Roman"/>
              </a:rPr>
              <a:t>Raspberries</a:t>
            </a:r>
            <a:endParaRPr dirty="0"/>
          </a:p>
          <a:p>
            <a:pPr>
              <a:buFont typeface="Wingdings"/>
              <a:buChar char="§"/>
              <a:defRPr/>
            </a:pPr>
            <a:r>
              <a:rPr lang="en-US" sz="2400" dirty="0">
                <a:latin typeface="Times New Roman"/>
                <a:cs typeface="Times New Roman"/>
              </a:rPr>
              <a:t>Electronic watches</a:t>
            </a:r>
            <a:endParaRPr dirty="0"/>
          </a:p>
          <a:p>
            <a:pPr>
              <a:buFont typeface="Wingdings"/>
              <a:buChar char="§"/>
              <a:defRPr/>
            </a:pPr>
            <a:r>
              <a:rPr lang="en-US" sz="2400" dirty="0">
                <a:latin typeface="Times New Roman"/>
                <a:cs typeface="Times New Roman"/>
              </a:rPr>
              <a:t>Many more…..</a:t>
            </a:r>
            <a:endParaRPr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038045" name="Title 1"/>
          <p:cNvSpPr>
            <a:spLocks noGrp="1"/>
          </p:cNvSpPr>
          <p:nvPr>
            <p:ph type="title"/>
          </p:nvPr>
        </p:nvSpPr>
        <p:spPr bwMode="auto">
          <a:xfrm>
            <a:off x="2801471" y="105148"/>
            <a:ext cx="8189259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Linux why</a:t>
            </a:r>
            <a:endParaRPr dirty="0"/>
          </a:p>
        </p:txBody>
      </p:sp>
      <p:sp>
        <p:nvSpPr>
          <p:cNvPr id="1627803490" name="Content Placeholder 2"/>
          <p:cNvSpPr>
            <a:spLocks noGrp="1"/>
          </p:cNvSpPr>
          <p:nvPr>
            <p:ph idx="1"/>
          </p:nvPr>
        </p:nvSpPr>
        <p:spPr bwMode="auto">
          <a:xfrm>
            <a:off x="3275804" y="1350784"/>
            <a:ext cx="8802471" cy="415643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2500" lnSpcReduction="10000"/>
          </a:bodyPr>
          <a:lstStyle/>
          <a:p>
            <a:pPr algn="l">
              <a:buFont typeface="Wingdings"/>
              <a:buChar char="§"/>
              <a:defRPr/>
            </a:pPr>
            <a:r>
              <a:rPr lang="en-US" sz="2000" b="0" i="0" u="none" strike="noStrike" dirty="0">
                <a:solidFill>
                  <a:srgbClr val="404040"/>
                </a:solidFill>
                <a:latin typeface="Times New Roman"/>
                <a:cs typeface="Times New Roman"/>
              </a:rPr>
              <a:t>Open Source and Free</a:t>
            </a:r>
            <a:endParaRPr dirty="0"/>
          </a:p>
          <a:p>
            <a:pPr algn="l">
              <a:buFont typeface="Wingdings"/>
              <a:buChar char="§"/>
              <a:defRPr/>
            </a:pPr>
            <a:endParaRPr lang="en-US" sz="2000" b="0" i="0" u="none" strike="noStrike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 dirty="0">
                <a:solidFill>
                  <a:srgbClr val="404040"/>
                </a:solidFill>
                <a:latin typeface="Times New Roman"/>
                <a:cs typeface="Times New Roman"/>
              </a:rPr>
              <a:t>Multiuser and Multitasking OS</a:t>
            </a:r>
            <a:endParaRPr dirty="0"/>
          </a:p>
          <a:p>
            <a:pPr algn="l">
              <a:buFont typeface="Wingdings"/>
              <a:buChar char="§"/>
              <a:defRPr/>
            </a:pPr>
            <a:endParaRPr lang="en-US" sz="2000" b="0" i="0" u="none" strike="noStrike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 dirty="0">
                <a:solidFill>
                  <a:srgbClr val="404040"/>
                </a:solidFill>
                <a:latin typeface="Times New Roman"/>
                <a:cs typeface="Times New Roman"/>
              </a:rPr>
              <a:t>Robust and Reliable</a:t>
            </a:r>
            <a:endParaRPr dirty="0"/>
          </a:p>
          <a:p>
            <a:pPr algn="l">
              <a:buFont typeface="Wingdings"/>
              <a:buChar char="§"/>
              <a:defRPr/>
            </a:pPr>
            <a:endParaRPr lang="en-US" sz="2000" b="0" i="0" u="none" strike="noStrike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 dirty="0">
                <a:solidFill>
                  <a:srgbClr val="404040"/>
                </a:solidFill>
                <a:latin typeface="Times New Roman"/>
                <a:cs typeface="Times New Roman"/>
              </a:rPr>
              <a:t>Scalable and portable</a:t>
            </a:r>
            <a:endParaRPr dirty="0"/>
          </a:p>
          <a:p>
            <a:pPr algn="l">
              <a:buFont typeface="Wingdings"/>
              <a:buChar char="§"/>
              <a:defRPr/>
            </a:pPr>
            <a:endParaRPr lang="en-US" sz="2000" b="0" i="0" u="none" strike="noStrike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 dirty="0">
                <a:solidFill>
                  <a:srgbClr val="404040"/>
                </a:solidFill>
                <a:latin typeface="Times New Roman"/>
                <a:cs typeface="Times New Roman"/>
              </a:rPr>
              <a:t>Scalable – Processor counts, Users, Memory, I/O </a:t>
            </a:r>
            <a:r>
              <a:rPr lang="en-US" sz="2000" b="0" i="0" u="none" strike="noStrike" dirty="0" err="1">
                <a:solidFill>
                  <a:srgbClr val="404040"/>
                </a:solidFill>
                <a:latin typeface="Times New Roman"/>
                <a:cs typeface="Times New Roman"/>
              </a:rPr>
              <a:t>etc</a:t>
            </a:r>
            <a:endParaRPr lang="en-US" sz="2000" b="0" i="0" u="none" strike="noStrike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0" indent="0" algn="l">
              <a:buNone/>
              <a:defRPr/>
            </a:pPr>
            <a:endParaRPr lang="en-US" sz="2000" b="0" i="0" u="none" strike="noStrike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 dirty="0">
                <a:solidFill>
                  <a:srgbClr val="404040"/>
                </a:solidFill>
                <a:latin typeface="Times New Roman"/>
                <a:cs typeface="Times New Roman"/>
              </a:rPr>
              <a:t>Portable – works efficiently on Wrist watch to Super Compu</a:t>
            </a:r>
            <a:r>
              <a:rPr lang="en-US" sz="1800" b="0" i="0" u="none" strike="noStrike" dirty="0">
                <a:solidFill>
                  <a:srgbClr val="404040"/>
                </a:solidFill>
                <a:latin typeface="CIDFont+F1"/>
              </a:rPr>
              <a:t>ters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312810" name="Title 1"/>
          <p:cNvSpPr>
            <a:spLocks noGrp="1"/>
          </p:cNvSpPr>
          <p:nvPr>
            <p:ph type="title"/>
          </p:nvPr>
        </p:nvSpPr>
        <p:spPr bwMode="auto">
          <a:xfrm>
            <a:off x="2599045" y="357494"/>
            <a:ext cx="8870576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Best Linux distribution</a:t>
            </a:r>
            <a:endParaRPr dirty="0"/>
          </a:p>
        </p:txBody>
      </p:sp>
      <p:sp>
        <p:nvSpPr>
          <p:cNvPr id="1282190821" name="Content Placeholder 2"/>
          <p:cNvSpPr>
            <a:spLocks noGrp="1"/>
          </p:cNvSpPr>
          <p:nvPr>
            <p:ph idx="1"/>
          </p:nvPr>
        </p:nvSpPr>
        <p:spPr bwMode="auto">
          <a:xfrm>
            <a:off x="3192576" y="1683057"/>
            <a:ext cx="7683515" cy="3962231"/>
          </a:xfrm>
        </p:spPr>
        <p:txBody>
          <a:bodyPr>
            <a:normAutofit/>
          </a:bodyPr>
          <a:lstStyle/>
          <a:p>
            <a:pPr marL="0" indent="0" algn="l">
              <a:buNone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Based on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Application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Hardware support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User friendly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Community Support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Knowledge base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User experience</a:t>
            </a:r>
            <a:endParaRPr lang="en-US"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681341" name="Title 1"/>
          <p:cNvSpPr>
            <a:spLocks noGrp="1"/>
          </p:cNvSpPr>
          <p:nvPr>
            <p:ph type="title"/>
          </p:nvPr>
        </p:nvSpPr>
        <p:spPr bwMode="auto">
          <a:xfrm>
            <a:off x="2649071" y="185831"/>
            <a:ext cx="8673005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Linux - disadvantages</a:t>
            </a:r>
            <a:endParaRPr dirty="0"/>
          </a:p>
        </p:txBody>
      </p:sp>
      <p:sp>
        <p:nvSpPr>
          <p:cNvPr id="602941944" name="Content Placeholder 2"/>
          <p:cNvSpPr>
            <a:spLocks noGrp="1"/>
          </p:cNvSpPr>
          <p:nvPr>
            <p:ph idx="1"/>
          </p:nvPr>
        </p:nvSpPr>
        <p:spPr bwMode="auto">
          <a:xfrm>
            <a:off x="3063110" y="1618324"/>
            <a:ext cx="8673005" cy="3999222"/>
          </a:xfrm>
        </p:spPr>
        <p:txBody>
          <a:bodyPr/>
          <a:lstStyle/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latin typeface="Times New Roman"/>
                <a:cs typeface="Times New Roman"/>
              </a:rPr>
              <a:t>More distributions are available ( New/outdated).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latin typeface="Times New Roman"/>
                <a:cs typeface="Times New Roman"/>
              </a:rPr>
              <a:t>Choice depends on user requirements and experience.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latin typeface="Times New Roman"/>
                <a:cs typeface="Times New Roman"/>
              </a:rPr>
              <a:t>Official support needs subscription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latin typeface="Times New Roman"/>
                <a:cs typeface="Times New Roman"/>
              </a:rPr>
              <a:t>Applications compatibility between windows and linux</a:t>
            </a: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latin typeface="Times New Roman"/>
                <a:cs typeface="Times New Roman"/>
              </a:rPr>
              <a:t>Some application become obsolete or no further developments.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latin typeface="Times New Roman"/>
                <a:cs typeface="Times New Roman"/>
              </a:rPr>
              <a:t>Community Support dependency.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latin typeface="Times New Roman"/>
                <a:cs typeface="Times New Roman"/>
              </a:rPr>
              <a:t>New users find Windows OS more easy and comfortable.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latin typeface="Times New Roman"/>
                <a:cs typeface="Times New Roman"/>
              </a:rPr>
              <a:t>Administration difficulty due to change in command names/pat</a:t>
            </a:r>
            <a:r>
              <a:rPr lang="en-US" sz="1800" b="0" i="0" u="none" strike="noStrike">
                <a:latin typeface="CIDFont+F6"/>
              </a:rPr>
              <a:t>hs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000648" name="Title 1"/>
          <p:cNvSpPr>
            <a:spLocks noGrp="1"/>
          </p:cNvSpPr>
          <p:nvPr>
            <p:ph type="title"/>
          </p:nvPr>
        </p:nvSpPr>
        <p:spPr bwMode="auto">
          <a:xfrm>
            <a:off x="2882153" y="409949"/>
            <a:ext cx="8449235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GNU &amp; GPL</a:t>
            </a:r>
            <a:endParaRPr dirty="0"/>
          </a:p>
        </p:txBody>
      </p:sp>
      <p:sp>
        <p:nvSpPr>
          <p:cNvPr id="940093350" name="Content Placeholder 2"/>
          <p:cNvSpPr>
            <a:spLocks noGrp="1"/>
          </p:cNvSpPr>
          <p:nvPr>
            <p:ph idx="1"/>
          </p:nvPr>
        </p:nvSpPr>
        <p:spPr bwMode="auto">
          <a:xfrm>
            <a:off x="2807670" y="1479611"/>
            <a:ext cx="8774729" cy="4091697"/>
          </a:xfrm>
        </p:spPr>
        <p:txBody>
          <a:bodyPr/>
          <a:lstStyle/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General Public License</a:t>
            </a:r>
            <a:endParaRPr/>
          </a:p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To provide free software</a:t>
            </a:r>
            <a:endParaRPr/>
          </a:p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GPL is license for GNU Project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69271" name="Title 1"/>
          <p:cNvSpPr>
            <a:spLocks noGrp="1"/>
          </p:cNvSpPr>
          <p:nvPr>
            <p:ph type="title"/>
          </p:nvPr>
        </p:nvSpPr>
        <p:spPr bwMode="auto">
          <a:xfrm>
            <a:off x="2738718" y="239619"/>
            <a:ext cx="9112624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Relationship – GNU &amp; GPL</a:t>
            </a:r>
            <a:endParaRPr dirty="0"/>
          </a:p>
        </p:txBody>
      </p:sp>
      <p:sp>
        <p:nvSpPr>
          <p:cNvPr id="747051915" name="Content Placeholder 2"/>
          <p:cNvSpPr>
            <a:spLocks noGrp="1"/>
          </p:cNvSpPr>
          <p:nvPr>
            <p:ph idx="1"/>
          </p:nvPr>
        </p:nvSpPr>
        <p:spPr bwMode="auto">
          <a:xfrm>
            <a:off x="2952139" y="1488859"/>
            <a:ext cx="8340093" cy="4258154"/>
          </a:xfrm>
        </p:spPr>
        <p:txBody>
          <a:bodyPr/>
          <a:lstStyle/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Copyright</a:t>
            </a:r>
            <a:endParaRPr/>
          </a:p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Freedom</a:t>
            </a:r>
            <a:endParaRPr/>
          </a:p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Versions</a:t>
            </a:r>
            <a:endParaRPr/>
          </a:p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usage</a:t>
            </a:r>
            <a:endParaRPr lang="en-US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667328" name="Title 1"/>
          <p:cNvSpPr>
            <a:spLocks noGrp="1"/>
          </p:cNvSpPr>
          <p:nvPr>
            <p:ph type="title"/>
          </p:nvPr>
        </p:nvSpPr>
        <p:spPr bwMode="auto">
          <a:xfrm>
            <a:off x="3307039" y="57587"/>
            <a:ext cx="7687235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Linux with GNU</a:t>
            </a:r>
            <a:endParaRPr dirty="0"/>
          </a:p>
        </p:txBody>
      </p:sp>
      <p:sp>
        <p:nvSpPr>
          <p:cNvPr id="662618730" name="Content Placeholder 2"/>
          <p:cNvSpPr>
            <a:spLocks noGrp="1"/>
          </p:cNvSpPr>
          <p:nvPr>
            <p:ph idx="1"/>
          </p:nvPr>
        </p:nvSpPr>
        <p:spPr bwMode="auto">
          <a:xfrm>
            <a:off x="3307039" y="1383150"/>
            <a:ext cx="8275360" cy="409169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algn="l">
              <a:buFont typeface="Wingdings"/>
              <a:buChar char="§"/>
              <a:defRPr/>
            </a:pPr>
            <a:r>
              <a:rPr lang="en-US" sz="2000" b="0" i="0" u="none" strike="noStrike" dirty="0">
                <a:solidFill>
                  <a:srgbClr val="404040"/>
                </a:solidFill>
                <a:latin typeface="Times New Roman"/>
                <a:cs typeface="Times New Roman"/>
              </a:rPr>
              <a:t>Linux distribution = Linux kernel + GNU tools</a:t>
            </a:r>
            <a:endParaRPr dirty="0"/>
          </a:p>
          <a:p>
            <a:pPr algn="l">
              <a:buFont typeface="Wingdings"/>
              <a:buChar char="§"/>
              <a:defRPr/>
            </a:pPr>
            <a:endParaRPr lang="en-US" sz="2000" b="0" i="0" u="none" strike="noStrike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 dirty="0">
                <a:solidFill>
                  <a:srgbClr val="404040"/>
                </a:solidFill>
                <a:latin typeface="Times New Roman"/>
                <a:cs typeface="Times New Roman"/>
              </a:rPr>
              <a:t>Linux/GNU maintained by FOSS</a:t>
            </a:r>
            <a:endParaRPr dirty="0"/>
          </a:p>
          <a:p>
            <a:pPr algn="l">
              <a:buFont typeface="Wingdings"/>
              <a:buChar char="§"/>
              <a:defRPr/>
            </a:pPr>
            <a:endParaRPr lang="en-US" sz="2000" b="0" i="0" u="none" strike="noStrike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 dirty="0">
                <a:solidFill>
                  <a:srgbClr val="404040"/>
                </a:solidFill>
                <a:latin typeface="Times New Roman"/>
                <a:cs typeface="Times New Roman"/>
              </a:rPr>
              <a:t>Linux provides Kernel</a:t>
            </a:r>
            <a:endParaRPr dirty="0"/>
          </a:p>
          <a:p>
            <a:pPr algn="l">
              <a:buFont typeface="Wingdings"/>
              <a:buChar char="§"/>
              <a:defRPr/>
            </a:pPr>
            <a:endParaRPr lang="en-US" sz="2000" b="0" i="0" u="none" strike="noStrike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 dirty="0">
                <a:solidFill>
                  <a:srgbClr val="404040"/>
                </a:solidFill>
                <a:latin typeface="Times New Roman"/>
                <a:cs typeface="Times New Roman"/>
              </a:rPr>
              <a:t>GNU Provides</a:t>
            </a:r>
            <a:endParaRPr dirty="0"/>
          </a:p>
          <a:p>
            <a:pPr algn="l">
              <a:buFont typeface="Wingdings"/>
              <a:buChar char="§"/>
              <a:defRPr/>
            </a:pPr>
            <a:endParaRPr lang="en-US" sz="2000" b="0" i="0" u="none" strike="noStrike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sz="1600" b="0" i="0" u="none" strike="noStrike" dirty="0">
                <a:solidFill>
                  <a:srgbClr val="404040"/>
                </a:solidFill>
                <a:latin typeface="Times New Roman"/>
                <a:cs typeface="Times New Roman"/>
              </a:rPr>
              <a:t>Applications</a:t>
            </a:r>
            <a:endParaRPr dirty="0"/>
          </a:p>
          <a:p>
            <a:pPr lvl="1">
              <a:buFont typeface="Wingdings" panose="05000000000000000000" pitchFamily="2" charset="2"/>
              <a:buChar char="Ø"/>
              <a:defRPr/>
            </a:pPr>
            <a:endParaRPr lang="en-US" sz="1600" b="0" i="0" u="none" strike="noStrike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sz="1600" b="0" i="0" u="none" strike="noStrike" dirty="0">
                <a:solidFill>
                  <a:srgbClr val="404040"/>
                </a:solidFill>
                <a:latin typeface="Times New Roman"/>
                <a:cs typeface="Times New Roman"/>
              </a:rPr>
              <a:t>Tools and libraries</a:t>
            </a:r>
            <a:endParaRPr lang="en-US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276893" name="Title 1"/>
          <p:cNvSpPr>
            <a:spLocks noGrp="1"/>
          </p:cNvSpPr>
          <p:nvPr>
            <p:ph type="title"/>
          </p:nvPr>
        </p:nvSpPr>
        <p:spPr bwMode="auto">
          <a:xfrm>
            <a:off x="3213847" y="172543"/>
            <a:ext cx="6477000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Linux with GNU</a:t>
            </a:r>
            <a:endParaRPr dirty="0"/>
          </a:p>
        </p:txBody>
      </p:sp>
      <p:sp>
        <p:nvSpPr>
          <p:cNvPr id="640206709" name="Content Placeholder 2"/>
          <p:cNvSpPr>
            <a:spLocks noGrp="1"/>
          </p:cNvSpPr>
          <p:nvPr>
            <p:ph idx="1"/>
          </p:nvPr>
        </p:nvSpPr>
        <p:spPr bwMode="auto">
          <a:xfrm>
            <a:off x="3118595" y="1498106"/>
            <a:ext cx="7526306" cy="423965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lnSpcReduction="10000"/>
          </a:bodyPr>
          <a:lstStyle/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Stability</a:t>
            </a:r>
            <a:endParaRPr/>
          </a:p>
          <a:p>
            <a:pPr algn="l">
              <a:buFont typeface="Wingdings"/>
              <a:buChar char="§"/>
              <a:defRPr/>
            </a:pPr>
            <a:endParaRPr lang="en-US" sz="2000" b="0" i="0" u="none" strike="noStrike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Free and opensource</a:t>
            </a:r>
            <a:endParaRPr/>
          </a:p>
          <a:p>
            <a:pPr algn="l">
              <a:buFont typeface="Wingdings"/>
              <a:buChar char="§"/>
              <a:defRPr/>
            </a:pPr>
            <a:endParaRPr lang="en-US" sz="2000" b="0" i="0" u="none" strike="noStrike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Wide range of hardwares</a:t>
            </a:r>
          </a:p>
          <a:p>
            <a:pPr algn="l">
              <a:buFont typeface="Wingdings"/>
              <a:buChar char="§"/>
              <a:defRPr/>
            </a:pPr>
            <a:endParaRPr lang="en-US" sz="2000" b="0" i="0" u="none" strike="noStrike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Security</a:t>
            </a:r>
            <a:endParaRPr/>
          </a:p>
          <a:p>
            <a:pPr algn="l">
              <a:buFont typeface="Wingdings"/>
              <a:buChar char="§"/>
              <a:defRPr/>
            </a:pPr>
            <a:endParaRPr lang="en-US" sz="2000" b="0" i="0" u="none" strike="noStrike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Community Support</a:t>
            </a:r>
            <a:endParaRPr/>
          </a:p>
          <a:p>
            <a:pPr algn="l">
              <a:buFont typeface="Wingdings"/>
              <a:buChar char="§"/>
              <a:defRPr/>
            </a:pPr>
            <a:endParaRPr lang="en-US" sz="2000" b="0" i="0" u="none" strike="noStrike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algn="l">
              <a:buFont typeface="Wingdings"/>
              <a:buChar char="§"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Vast knowledge base</a:t>
            </a:r>
            <a:endParaRPr lang="en-US"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555358" name="Title 1"/>
          <p:cNvSpPr>
            <a:spLocks noGrp="1"/>
          </p:cNvSpPr>
          <p:nvPr>
            <p:ph type="title"/>
          </p:nvPr>
        </p:nvSpPr>
        <p:spPr bwMode="auto">
          <a:xfrm>
            <a:off x="3142129" y="141007"/>
            <a:ext cx="8287871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Linux Architecture</a:t>
            </a:r>
            <a:endParaRPr dirty="0"/>
          </a:p>
        </p:txBody>
      </p:sp>
      <p:pic>
        <p:nvPicPr>
          <p:cNvPr id="65328307" name="Picture 2" descr="Linux Operating System - DataFlair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3899703" y="1335503"/>
            <a:ext cx="5021427" cy="43513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509744" name="Title 1"/>
          <p:cNvSpPr>
            <a:spLocks noGrp="1"/>
          </p:cNvSpPr>
          <p:nvPr>
            <p:ph type="title"/>
          </p:nvPr>
        </p:nvSpPr>
        <p:spPr bwMode="auto">
          <a:xfrm>
            <a:off x="3142445" y="194796"/>
            <a:ext cx="7726251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Linux Architecture</a:t>
            </a:r>
            <a:endParaRPr dirty="0"/>
          </a:p>
        </p:txBody>
      </p:sp>
      <p:pic>
        <p:nvPicPr>
          <p:cNvPr id="1233386450" name="Picture 6" descr="Linux Kernel Operating System Processes - DC Web Makers- Blockchain Services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3142445" y="1930897"/>
            <a:ext cx="5422006" cy="37229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750464" name="Title 1"/>
          <p:cNvSpPr>
            <a:spLocks noGrp="1"/>
          </p:cNvSpPr>
          <p:nvPr>
            <p:ph type="title"/>
          </p:nvPr>
        </p:nvSpPr>
        <p:spPr bwMode="auto">
          <a:xfrm>
            <a:off x="3497822" y="221690"/>
            <a:ext cx="7516906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Linux Architecture</a:t>
            </a:r>
            <a:endParaRPr dirty="0"/>
          </a:p>
        </p:txBody>
      </p:sp>
      <p:sp>
        <p:nvSpPr>
          <p:cNvPr id="353755727" name="Content Placeholder 2"/>
          <p:cNvSpPr>
            <a:spLocks noGrp="1"/>
          </p:cNvSpPr>
          <p:nvPr>
            <p:ph idx="1"/>
          </p:nvPr>
        </p:nvSpPr>
        <p:spPr bwMode="auto">
          <a:xfrm>
            <a:off x="2600731" y="1655315"/>
            <a:ext cx="9311088" cy="413793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7500" lnSpcReduction="20000"/>
          </a:bodyPr>
          <a:lstStyle/>
          <a:p>
            <a:pPr algn="l">
              <a:buFont typeface="Wingdings"/>
              <a:buChar char="§"/>
              <a:defRPr/>
            </a:pPr>
            <a:r>
              <a:rPr lang="en-US" sz="2600" b="1" i="0">
                <a:solidFill>
                  <a:srgbClr val="0A0A0A"/>
                </a:solidFill>
                <a:latin typeface="Times New Roman"/>
                <a:cs typeface="Times New Roman"/>
              </a:rPr>
              <a:t>Hardware Layer:</a:t>
            </a:r>
            <a:r>
              <a:rPr lang="en-US" sz="2600" b="0" i="0">
                <a:solidFill>
                  <a:srgbClr val="0A0A0A"/>
                </a:solidFill>
                <a:latin typeface="Times New Roman"/>
                <a:cs typeface="Times New Roman"/>
              </a:rPr>
              <a:t> Consists of all physical components: CPU, RAM, hard drives, and peripheral devices.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600" b="1" i="0">
                <a:solidFill>
                  <a:srgbClr val="0A0A0A"/>
                </a:solidFill>
                <a:latin typeface="Times New Roman"/>
                <a:cs typeface="Times New Roman"/>
              </a:rPr>
              <a:t>Kernel:</a:t>
            </a:r>
            <a:r>
              <a:rPr lang="en-US" sz="2600" b="0" i="0">
                <a:solidFill>
                  <a:srgbClr val="0A0A0A"/>
                </a:solidFill>
                <a:latin typeface="Times New Roman"/>
                <a:cs typeface="Times New Roman"/>
              </a:rPr>
              <a:t> The heart of the OS, acting as a bridge between applications and hardware. It manages memory, processes, file systems, and device drivers. Linux uses a monolithic kernel.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600" b="1" i="0">
                <a:solidFill>
                  <a:srgbClr val="0A0A0A"/>
                </a:solidFill>
                <a:latin typeface="Times New Roman"/>
                <a:cs typeface="Times New Roman"/>
              </a:rPr>
              <a:t>System Call Interface (SCI):</a:t>
            </a:r>
            <a:r>
              <a:rPr lang="en-US" sz="2600" b="0" i="0">
                <a:solidFill>
                  <a:srgbClr val="0A0A0A"/>
                </a:solidFill>
                <a:latin typeface="Times New Roman"/>
                <a:cs typeface="Times New Roman"/>
              </a:rPr>
              <a:t> A critical interface allowing applications in User Space to request services from the Kernel (e.g., opening files, creating processes).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600" b="1" i="0">
                <a:solidFill>
                  <a:srgbClr val="0A0A0A"/>
                </a:solidFill>
                <a:latin typeface="Times New Roman"/>
                <a:cs typeface="Times New Roman"/>
              </a:rPr>
              <a:t>System Libraries (glibc):</a:t>
            </a:r>
            <a:r>
              <a:rPr lang="en-US" sz="2600" b="0" i="0">
                <a:solidFill>
                  <a:srgbClr val="0A0A0A"/>
                </a:solidFill>
                <a:latin typeface="Times New Roman"/>
                <a:cs typeface="Times New Roman"/>
              </a:rPr>
              <a:t> Provide functions that allow applications to invoke kernel features without needing to know the low-level system call instructions.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600" b="1" i="0">
                <a:solidFill>
                  <a:srgbClr val="0A0A0A"/>
                </a:solidFill>
                <a:latin typeface="Times New Roman"/>
                <a:cs typeface="Times New Roman"/>
              </a:rPr>
              <a:t>Shell/User Applications:</a:t>
            </a:r>
            <a:r>
              <a:rPr lang="en-US" sz="2600" b="0" i="0">
                <a:solidFill>
                  <a:srgbClr val="0A0A0A"/>
                </a:solidFill>
                <a:latin typeface="Times New Roman"/>
                <a:cs typeface="Times New Roman"/>
              </a:rPr>
              <a:t> The top layer where users run commands (bash, zsh) or applications (web browsers, text editors).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288660" name="Title 1"/>
          <p:cNvSpPr>
            <a:spLocks noGrp="1"/>
          </p:cNvSpPr>
          <p:nvPr>
            <p:ph type="title"/>
          </p:nvPr>
        </p:nvSpPr>
        <p:spPr bwMode="auto">
          <a:xfrm>
            <a:off x="3007659" y="158937"/>
            <a:ext cx="8494137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Linux Architecture</a:t>
            </a:r>
            <a:endParaRPr dirty="0"/>
          </a:p>
        </p:txBody>
      </p:sp>
      <p:sp>
        <p:nvSpPr>
          <p:cNvPr id="286597305" name="Content Placeholder 2"/>
          <p:cNvSpPr>
            <a:spLocks noGrp="1"/>
          </p:cNvSpPr>
          <p:nvPr>
            <p:ph idx="1"/>
          </p:nvPr>
        </p:nvSpPr>
        <p:spPr bwMode="auto">
          <a:xfrm>
            <a:off x="2859663" y="1673810"/>
            <a:ext cx="8229122" cy="3823518"/>
          </a:xfrm>
        </p:spPr>
        <p:txBody>
          <a:bodyPr>
            <a:normAutofit lnSpcReduction="10000"/>
          </a:bodyPr>
          <a:lstStyle/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User Space</a:t>
            </a:r>
            <a:endParaRPr/>
          </a:p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Kernel Space</a:t>
            </a:r>
            <a:endParaRPr/>
          </a:p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Monolithic Kernel</a:t>
            </a:r>
            <a:endParaRPr/>
          </a:p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Device Drivers</a:t>
            </a:r>
            <a:endParaRPr/>
          </a:p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File Systems</a:t>
            </a:r>
            <a:endParaRPr/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780082" name="Title 1"/>
          <p:cNvSpPr>
            <a:spLocks noGrp="1"/>
          </p:cNvSpPr>
          <p:nvPr>
            <p:ph type="title"/>
          </p:nvPr>
        </p:nvSpPr>
        <p:spPr bwMode="auto">
          <a:xfrm>
            <a:off x="2982667" y="132043"/>
            <a:ext cx="7893424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Linux Shells</a:t>
            </a:r>
            <a:endParaRPr dirty="0"/>
          </a:p>
        </p:txBody>
      </p:sp>
      <p:sp>
        <p:nvSpPr>
          <p:cNvPr id="161855243" name="Content Placeholder 2"/>
          <p:cNvSpPr>
            <a:spLocks noGrp="1"/>
          </p:cNvSpPr>
          <p:nvPr>
            <p:ph idx="1"/>
          </p:nvPr>
        </p:nvSpPr>
        <p:spPr bwMode="auto">
          <a:xfrm>
            <a:off x="3127843" y="1599829"/>
            <a:ext cx="7748248" cy="3925241"/>
          </a:xfrm>
        </p:spPr>
        <p:txBody>
          <a:bodyPr/>
          <a:lstStyle/>
          <a:p>
            <a:pPr>
              <a:buFont typeface="Wingdings"/>
              <a:buChar char="§"/>
              <a:defRPr/>
            </a:pPr>
            <a:r>
              <a:rPr lang="en-US"/>
              <a:t>C Shell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/>
              <a:t>Korn sh 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/>
              <a:t>BASH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/>
              <a:t>Bourne Sh</a:t>
            </a:r>
          </a:p>
          <a:p>
            <a:pPr>
              <a:buFont typeface="Wingdings"/>
              <a:buChar char="§"/>
              <a:defRPr/>
            </a:pPr>
            <a:r>
              <a:rPr lang="en-US"/>
              <a:t>Z Shell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/>
              <a:t>Fish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706910" name="Title 1"/>
          <p:cNvSpPr>
            <a:spLocks noGrp="1"/>
          </p:cNvSpPr>
          <p:nvPr>
            <p:ph type="title"/>
          </p:nvPr>
        </p:nvSpPr>
        <p:spPr bwMode="auto">
          <a:xfrm>
            <a:off x="3384176" y="221690"/>
            <a:ext cx="7642412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Linux Filesystem</a:t>
            </a:r>
            <a:endParaRPr dirty="0"/>
          </a:p>
        </p:txBody>
      </p:sp>
      <p:pic>
        <p:nvPicPr>
          <p:cNvPr id="138972248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1942674" y="1353998"/>
            <a:ext cx="8510098" cy="4351338"/>
          </a:xfr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438429" name="Title 1"/>
          <p:cNvSpPr>
            <a:spLocks noGrp="1"/>
          </p:cNvSpPr>
          <p:nvPr>
            <p:ph type="title"/>
          </p:nvPr>
        </p:nvSpPr>
        <p:spPr bwMode="auto">
          <a:xfrm>
            <a:off x="3026119" y="329266"/>
            <a:ext cx="9847729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Linux Filesystem characteristics</a:t>
            </a:r>
            <a:endParaRPr dirty="0"/>
          </a:p>
        </p:txBody>
      </p:sp>
      <p:sp>
        <p:nvSpPr>
          <p:cNvPr id="1154123718" name="Content Placeholder 3"/>
          <p:cNvSpPr>
            <a:spLocks noGrp="1"/>
          </p:cNvSpPr>
          <p:nvPr>
            <p:ph idx="1"/>
          </p:nvPr>
        </p:nvSpPr>
        <p:spPr bwMode="auto">
          <a:xfrm>
            <a:off x="3026119" y="1941990"/>
            <a:ext cx="8201379" cy="382351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5000" lnSpcReduction="20000"/>
          </a:bodyPr>
          <a:lstStyle/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Space Management</a:t>
            </a:r>
            <a:endParaRPr/>
          </a:p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Filename</a:t>
            </a:r>
            <a:endParaRPr/>
          </a:p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Directory</a:t>
            </a:r>
            <a:endParaRPr/>
          </a:p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Metadata</a:t>
            </a:r>
            <a:endParaRPr/>
          </a:p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Utilities</a:t>
            </a:r>
            <a:endParaRPr/>
          </a:p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Design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998404" name="Title 1"/>
          <p:cNvSpPr>
            <a:spLocks noGrp="1"/>
          </p:cNvSpPr>
          <p:nvPr>
            <p:ph type="title"/>
          </p:nvPr>
        </p:nvSpPr>
        <p:spPr bwMode="auto">
          <a:xfrm>
            <a:off x="2514600" y="266513"/>
            <a:ext cx="9300882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Advanced features of FS</a:t>
            </a:r>
            <a:endParaRPr dirty="0"/>
          </a:p>
        </p:txBody>
      </p:sp>
      <p:sp>
        <p:nvSpPr>
          <p:cNvPr id="828864503" name="Content Placeholder 2"/>
          <p:cNvSpPr>
            <a:spLocks noGrp="1"/>
          </p:cNvSpPr>
          <p:nvPr>
            <p:ph idx="1"/>
          </p:nvPr>
        </p:nvSpPr>
        <p:spPr bwMode="auto">
          <a:xfrm>
            <a:off x="3053862" y="1720048"/>
            <a:ext cx="8589777" cy="3731042"/>
          </a:xfrm>
        </p:spPr>
        <p:txBody>
          <a:bodyPr/>
          <a:lstStyle/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Journaling</a:t>
            </a:r>
            <a:endParaRPr/>
          </a:p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Versioning</a:t>
            </a:r>
            <a:endParaRPr/>
          </a:p>
          <a:p>
            <a:pPr>
              <a:buFont typeface="Wingdings"/>
              <a:buChar char="§"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Inode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982996" name="Title 1"/>
          <p:cNvSpPr>
            <a:spLocks noGrp="1"/>
          </p:cNvSpPr>
          <p:nvPr>
            <p:ph type="title"/>
          </p:nvPr>
        </p:nvSpPr>
        <p:spPr bwMode="auto">
          <a:xfrm>
            <a:off x="3007624" y="228028"/>
            <a:ext cx="7965141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Types of Filesystem</a:t>
            </a:r>
            <a:endParaRPr dirty="0"/>
          </a:p>
        </p:txBody>
      </p:sp>
      <p:sp>
        <p:nvSpPr>
          <p:cNvPr id="2105738640" name="Content Placeholder 2"/>
          <p:cNvSpPr>
            <a:spLocks noGrp="1"/>
          </p:cNvSpPr>
          <p:nvPr>
            <p:ph idx="1"/>
          </p:nvPr>
        </p:nvSpPr>
        <p:spPr bwMode="auto">
          <a:xfrm>
            <a:off x="3007624" y="1553591"/>
            <a:ext cx="8229122" cy="3999222"/>
          </a:xfrm>
        </p:spPr>
        <p:txBody>
          <a:bodyPr/>
          <a:lstStyle/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Ext (1,2 3,4)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XFS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ZFS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ReiserFS</a:t>
            </a: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JFS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NTFS</a:t>
            </a:r>
            <a:endParaRPr lang="en-US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922989" name="Title 1"/>
          <p:cNvSpPr>
            <a:spLocks noGrp="1"/>
          </p:cNvSpPr>
          <p:nvPr>
            <p:ph type="title"/>
          </p:nvPr>
        </p:nvSpPr>
        <p:spPr bwMode="auto">
          <a:xfrm>
            <a:off x="2980765" y="114113"/>
            <a:ext cx="9291918" cy="1325563"/>
          </a:xfrm>
        </p:spPr>
        <p:txBody>
          <a:bodyPr/>
          <a:lstStyle/>
          <a:p>
            <a:pPr>
              <a:defRPr/>
            </a:pPr>
            <a:r>
              <a:rPr lang="en-US" dirty="0" err="1">
                <a:latin typeface="Algerian"/>
              </a:rPr>
              <a:t>FileSystem</a:t>
            </a:r>
            <a:r>
              <a:rPr lang="en-US" dirty="0">
                <a:latin typeface="Algerian"/>
              </a:rPr>
              <a:t> Comparison</a:t>
            </a:r>
            <a:endParaRPr dirty="0"/>
          </a:p>
        </p:txBody>
      </p:sp>
      <p:pic>
        <p:nvPicPr>
          <p:cNvPr id="1084425508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2772949" y="1523999"/>
            <a:ext cx="762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799937" name="Title 1"/>
          <p:cNvSpPr>
            <a:spLocks noGrp="1"/>
          </p:cNvSpPr>
          <p:nvPr>
            <p:ph type="title"/>
          </p:nvPr>
        </p:nvSpPr>
        <p:spPr bwMode="auto">
          <a:xfrm>
            <a:off x="2693894" y="230654"/>
            <a:ext cx="8709212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FS directory structure</a:t>
            </a:r>
            <a:endParaRPr dirty="0"/>
          </a:p>
        </p:txBody>
      </p:sp>
      <p:sp>
        <p:nvSpPr>
          <p:cNvPr id="356741591" name="Content Placeholder 2"/>
          <p:cNvSpPr>
            <a:spLocks noGrp="1"/>
          </p:cNvSpPr>
          <p:nvPr>
            <p:ph idx="1"/>
          </p:nvPr>
        </p:nvSpPr>
        <p:spPr bwMode="auto">
          <a:xfrm>
            <a:off x="3035367" y="1747791"/>
            <a:ext cx="8608272" cy="3860508"/>
          </a:xfrm>
        </p:spPr>
        <p:txBody>
          <a:bodyPr>
            <a:normAutofit/>
          </a:bodyPr>
          <a:lstStyle/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/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/usr</a:t>
            </a: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/boot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/var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/opt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/tmp</a:t>
            </a:r>
          </a:p>
          <a:p>
            <a:pPr>
              <a:buFont typeface="Wingdings"/>
              <a:buChar char="§"/>
              <a:defRPr/>
            </a:pPr>
            <a:r>
              <a:rPr lang="en-US" sz="2400">
                <a:latin typeface="Times New Roman"/>
                <a:cs typeface="Times New Roman"/>
              </a:rPr>
              <a:t>/home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567662" name="Title 1"/>
          <p:cNvSpPr>
            <a:spLocks noGrp="1"/>
          </p:cNvSpPr>
          <p:nvPr>
            <p:ph type="title"/>
          </p:nvPr>
        </p:nvSpPr>
        <p:spPr bwMode="auto">
          <a:xfrm>
            <a:off x="2837330" y="221690"/>
            <a:ext cx="8252012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Linux Boot Process</a:t>
            </a:r>
            <a:endParaRPr dirty="0"/>
          </a:p>
        </p:txBody>
      </p:sp>
      <p:sp>
        <p:nvSpPr>
          <p:cNvPr id="1369247422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934012" y="1804042"/>
            <a:ext cx="9297873" cy="3139321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R="0" lvl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§"/>
              <a:defRPr/>
            </a:pPr>
            <a:r>
              <a:rPr lang="en-US" sz="1400" b="1" i="0" u="none" strike="noStrike" cap="none">
                <a:ln>
                  <a:noFill/>
                </a:ln>
                <a:solidFill>
                  <a:srgbClr val="0A0A0A"/>
                </a:solidFill>
                <a:latin typeface="Times New Roman"/>
                <a:cs typeface="Times New Roman"/>
              </a:rPr>
              <a:t>BIOS/UEFI:</a:t>
            </a:r>
            <a:r>
              <a:rPr lang="en-US" sz="1400" b="0" i="0" u="none" strike="noStrike" cap="none">
                <a:ln>
                  <a:noFill/>
                </a:ln>
                <a:solidFill>
                  <a:srgbClr val="0A0A0A"/>
                </a:solidFill>
                <a:latin typeface="Times New Roman"/>
                <a:cs typeface="Times New Roman"/>
              </a:rPr>
              <a:t> Performs Power-On Self-Test (POST) to check hardware, then locates the bootloader on the hard drive or SSD.</a:t>
            </a:r>
            <a:endParaRPr/>
          </a:p>
          <a:p>
            <a:pPr marR="0" lvl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§"/>
              <a:defRPr/>
            </a:pPr>
            <a:endParaRPr lang="en-US" sz="1400" b="0" i="0" u="none" strike="noStrike" cap="none">
              <a:ln>
                <a:noFill/>
              </a:ln>
              <a:solidFill>
                <a:srgbClr val="0A0A0A"/>
              </a:solidFill>
              <a:latin typeface="Times New Roman"/>
              <a:cs typeface="Times New Roman"/>
            </a:endParaRPr>
          </a:p>
          <a:p>
            <a:pPr marR="0" lvl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§"/>
              <a:defRPr/>
            </a:pPr>
            <a:r>
              <a:rPr lang="en-US" sz="1400" b="1" i="0" u="none" strike="noStrike" cap="none">
                <a:ln>
                  <a:noFill/>
                </a:ln>
                <a:solidFill>
                  <a:srgbClr val="0A0A0A"/>
                </a:solidFill>
                <a:latin typeface="Times New Roman"/>
                <a:cs typeface="Times New Roman"/>
              </a:rPr>
              <a:t>MBR/GPT &amp; Bootloader (GRUB):</a:t>
            </a:r>
            <a:r>
              <a:rPr lang="en-US" sz="1400" b="0" i="0" u="none" strike="noStrike" cap="none">
                <a:ln>
                  <a:noFill/>
                </a:ln>
                <a:solidFill>
                  <a:srgbClr val="0A0A0A"/>
                </a:solidFill>
                <a:latin typeface="Times New Roman"/>
                <a:cs typeface="Times New Roman"/>
              </a:rPr>
              <a:t> BIOS reads the Master Boot Record (MBR), while UEFI uses GPT. They load the GRUB2 bootloader, which displays a menu to select the kernel.</a:t>
            </a:r>
            <a:endParaRPr/>
          </a:p>
          <a:p>
            <a:pPr marR="0" lvl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§"/>
              <a:defRPr/>
            </a:pPr>
            <a:endParaRPr lang="en-US" sz="1400" b="0" i="0" u="none" strike="noStrike" cap="none">
              <a:ln>
                <a:noFill/>
              </a:ln>
              <a:solidFill>
                <a:srgbClr val="0A0A0A"/>
              </a:solidFill>
              <a:latin typeface="Times New Roman"/>
              <a:cs typeface="Times New Roman"/>
            </a:endParaRPr>
          </a:p>
          <a:p>
            <a:pPr marR="0" lvl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§"/>
              <a:defRPr/>
            </a:pPr>
            <a:r>
              <a:rPr lang="en-US" sz="1400" b="1" i="0" u="none" strike="noStrike" cap="none">
                <a:ln>
                  <a:noFill/>
                </a:ln>
                <a:solidFill>
                  <a:srgbClr val="0A0A0A"/>
                </a:solidFill>
                <a:latin typeface="Times New Roman"/>
                <a:cs typeface="Times New Roman"/>
              </a:rPr>
              <a:t>Kernel:</a:t>
            </a:r>
            <a:r>
              <a:rPr lang="en-US" sz="1400" b="0" i="0" u="none" strike="noStrike" cap="none">
                <a:ln>
                  <a:noFill/>
                </a:ln>
                <a:solidFill>
                  <a:srgbClr val="0A0A0A"/>
                </a:solidFill>
                <a:latin typeface="Times New Roman"/>
                <a:cs typeface="Times New Roman"/>
              </a:rPr>
              <a:t> GRUB loads the kernel into memory. It decompresses, mounts the root filesystem (often using </a:t>
            </a:r>
            <a:r>
              <a:rPr lang="en-US" sz="1050" b="0" i="0" u="none" strike="noStrike" cap="none">
                <a:ln>
                  <a:noFill/>
                </a:ln>
                <a:solidFill>
                  <a:srgbClr val="0A0A0A"/>
                </a:solidFill>
                <a:latin typeface="Times New Roman"/>
                <a:cs typeface="Times New Roman"/>
              </a:rPr>
              <a:t>initramfs</a:t>
            </a:r>
            <a:r>
              <a:rPr lang="en-US" sz="1400" b="0" i="0" u="none" strike="noStrike" cap="none">
                <a:ln>
                  <a:noFill/>
                </a:ln>
                <a:solidFill>
                  <a:srgbClr val="0A0A0A"/>
                </a:solidFill>
                <a:latin typeface="Times New Roman"/>
                <a:cs typeface="Times New Roman"/>
              </a:rPr>
              <a:t> for initial drivers), and initializes essential hardware.</a:t>
            </a:r>
            <a:endParaRPr/>
          </a:p>
          <a:p>
            <a:pPr marR="0" lvl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§"/>
              <a:defRPr/>
            </a:pPr>
            <a:endParaRPr lang="en-US" sz="1400" b="0" i="0" u="none" strike="noStrike" cap="none">
              <a:ln>
                <a:noFill/>
              </a:ln>
              <a:solidFill>
                <a:srgbClr val="0A0A0A"/>
              </a:solidFill>
              <a:latin typeface="Times New Roman"/>
              <a:cs typeface="Times New Roman"/>
            </a:endParaRPr>
          </a:p>
          <a:p>
            <a:pPr marR="0" lvl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§"/>
              <a:defRPr/>
            </a:pPr>
            <a:r>
              <a:rPr lang="en-US" sz="1400" b="1" i="0" u="none" strike="noStrike" cap="none">
                <a:ln>
                  <a:noFill/>
                </a:ln>
                <a:solidFill>
                  <a:srgbClr val="0A0A0A"/>
                </a:solidFill>
                <a:latin typeface="Times New Roman"/>
                <a:cs typeface="Times New Roman"/>
              </a:rPr>
              <a:t>Init Process (systemd):</a:t>
            </a:r>
            <a:r>
              <a:rPr lang="en-US" sz="1400" b="0" i="0" u="none" strike="noStrike" cap="none">
                <a:ln>
                  <a:noFill/>
                </a:ln>
                <a:solidFill>
                  <a:srgbClr val="0A0A0A"/>
                </a:solidFill>
                <a:latin typeface="Times New Roman"/>
                <a:cs typeface="Times New Roman"/>
              </a:rPr>
              <a:t> The kernel starts the first process, typically </a:t>
            </a:r>
            <a:r>
              <a:rPr lang="en-US" sz="1050" b="0" i="0" u="none" strike="noStrike" cap="none">
                <a:ln>
                  <a:noFill/>
                </a:ln>
                <a:solidFill>
                  <a:srgbClr val="0A0A0A"/>
                </a:solidFill>
                <a:latin typeface="Times New Roman"/>
                <a:cs typeface="Times New Roman"/>
              </a:rPr>
              <a:t>systemd</a:t>
            </a:r>
            <a:r>
              <a:rPr lang="en-US" sz="1400" b="0" i="0" u="none" strike="noStrike" cap="none">
                <a:ln>
                  <a:noFill/>
                </a:ln>
                <a:solidFill>
                  <a:srgbClr val="0A0A0A"/>
                </a:solidFill>
                <a:latin typeface="Times New Roman"/>
                <a:cs typeface="Times New Roman"/>
              </a:rPr>
              <a:t> (PID 1), which acts as the init system to manage all subsequent processes.</a:t>
            </a:r>
            <a:endParaRPr/>
          </a:p>
          <a:p>
            <a:pPr marR="0" lvl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§"/>
              <a:defRPr/>
            </a:pPr>
            <a:endParaRPr lang="en-US" sz="1400" b="0" i="0" u="none" strike="noStrike" cap="none">
              <a:ln>
                <a:noFill/>
              </a:ln>
              <a:solidFill>
                <a:srgbClr val="0A0A0A"/>
              </a:solidFill>
              <a:latin typeface="Times New Roman"/>
              <a:cs typeface="Times New Roman"/>
            </a:endParaRPr>
          </a:p>
          <a:p>
            <a:pPr marR="0" lvl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§"/>
              <a:defRPr/>
            </a:pPr>
            <a:r>
              <a:rPr lang="en-US" sz="1400" b="1" i="0" u="none" strike="noStrike" cap="none">
                <a:ln>
                  <a:noFill/>
                </a:ln>
                <a:solidFill>
                  <a:srgbClr val="0A0A0A"/>
                </a:solidFill>
                <a:latin typeface="Times New Roman"/>
                <a:cs typeface="Times New Roman"/>
              </a:rPr>
              <a:t>Runlevel/Target:</a:t>
            </a:r>
            <a:r>
              <a:rPr lang="en-US" sz="1400" b="0" i="0" u="none" strike="noStrike" cap="none">
                <a:ln>
                  <a:noFill/>
                </a:ln>
                <a:solidFill>
                  <a:srgbClr val="0A0A0A"/>
                </a:solidFill>
                <a:latin typeface="Times New Roman"/>
                <a:cs typeface="Times New Roman"/>
              </a:rPr>
              <a:t> </a:t>
            </a:r>
            <a:r>
              <a:rPr lang="en-US" sz="1050" b="0" i="0" u="none" strike="noStrike" cap="none">
                <a:ln>
                  <a:noFill/>
                </a:ln>
                <a:solidFill>
                  <a:srgbClr val="0A0A0A"/>
                </a:solidFill>
                <a:latin typeface="Times New Roman"/>
                <a:cs typeface="Times New Roman"/>
              </a:rPr>
              <a:t>systemd</a:t>
            </a:r>
            <a:r>
              <a:rPr lang="en-US" sz="1400" b="0" i="0" u="none" strike="noStrike" cap="none">
                <a:ln>
                  <a:noFill/>
                </a:ln>
                <a:solidFill>
                  <a:srgbClr val="0A0A0A"/>
                </a:solidFill>
                <a:latin typeface="Times New Roman"/>
                <a:cs typeface="Times New Roman"/>
              </a:rPr>
              <a:t> loads required services (networking, GUI) based on the target configuration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223253" name="Title 1"/>
          <p:cNvSpPr>
            <a:spLocks noGrp="1"/>
          </p:cNvSpPr>
          <p:nvPr>
            <p:ph type="title"/>
          </p:nvPr>
        </p:nvSpPr>
        <p:spPr bwMode="auto">
          <a:xfrm>
            <a:off x="3536577" y="92075"/>
            <a:ext cx="8395447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Linux boot Process</a:t>
            </a:r>
            <a:endParaRPr dirty="0"/>
          </a:p>
        </p:txBody>
      </p:sp>
      <p:pic>
        <p:nvPicPr>
          <p:cNvPr id="428656061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2648962" y="1417638"/>
            <a:ext cx="6413202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586989" name="Title 1"/>
          <p:cNvSpPr>
            <a:spLocks noGrp="1"/>
          </p:cNvSpPr>
          <p:nvPr>
            <p:ph type="title"/>
          </p:nvPr>
        </p:nvSpPr>
        <p:spPr bwMode="auto">
          <a:xfrm>
            <a:off x="3384176" y="149972"/>
            <a:ext cx="7427259" cy="132556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Algerian"/>
              </a:rPr>
              <a:t>Reboot/Shutdown</a:t>
            </a:r>
            <a:endParaRPr dirty="0"/>
          </a:p>
        </p:txBody>
      </p:sp>
      <p:sp>
        <p:nvSpPr>
          <p:cNvPr id="189711140" name="Content Placeholder 2"/>
          <p:cNvSpPr>
            <a:spLocks noGrp="1"/>
          </p:cNvSpPr>
          <p:nvPr>
            <p:ph idx="1"/>
          </p:nvPr>
        </p:nvSpPr>
        <p:spPr bwMode="auto">
          <a:xfrm>
            <a:off x="2826165" y="1655315"/>
            <a:ext cx="8756234" cy="4137935"/>
          </a:xfrm>
        </p:spPr>
        <p:txBody>
          <a:bodyPr>
            <a:normAutofit/>
          </a:bodyPr>
          <a:lstStyle/>
          <a:p>
            <a:pPr marL="0" indent="0" algn="l">
              <a:buNone/>
              <a:defRPr/>
            </a:pPr>
            <a:r>
              <a:rPr lang="en-US" sz="2000" b="1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To shutdown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1" strike="noStrike">
                <a:solidFill>
                  <a:srgbClr val="404040"/>
                </a:solidFill>
                <a:latin typeface="Times New Roman"/>
                <a:cs typeface="Times New Roman"/>
              </a:rPr>
              <a:t>Shutdown –h now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1" strike="noStrike">
                <a:solidFill>
                  <a:srgbClr val="404040"/>
                </a:solidFill>
                <a:latin typeface="Times New Roman"/>
                <a:cs typeface="Times New Roman"/>
              </a:rPr>
              <a:t>Poweroff</a:t>
            </a:r>
          </a:p>
          <a:p>
            <a:pPr algn="l">
              <a:buFont typeface="Wingdings"/>
              <a:buChar char="§"/>
              <a:defRPr/>
            </a:pPr>
            <a:r>
              <a:rPr lang="en-US" sz="2000" b="0" i="1" strike="noStrike">
                <a:solidFill>
                  <a:srgbClr val="404040"/>
                </a:solidFill>
                <a:latin typeface="Times New Roman"/>
                <a:cs typeface="Times New Roman"/>
              </a:rPr>
              <a:t>init 0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1" strike="noStrike">
                <a:solidFill>
                  <a:srgbClr val="404040"/>
                </a:solidFill>
                <a:latin typeface="Times New Roman"/>
                <a:cs typeface="Times New Roman"/>
              </a:rPr>
              <a:t>Halt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1" strike="noStrike">
                <a:solidFill>
                  <a:srgbClr val="404040"/>
                </a:solidFill>
                <a:latin typeface="Times New Roman"/>
                <a:cs typeface="Times New Roman"/>
              </a:rPr>
              <a:t>Shutdown –h +15 (minutes)</a:t>
            </a:r>
            <a:endParaRPr/>
          </a:p>
          <a:p>
            <a:pPr marL="0" indent="0" algn="l">
              <a:buNone/>
              <a:defRPr/>
            </a:pPr>
            <a:r>
              <a:rPr lang="en-US" sz="2000" b="1" i="0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To Reboot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1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Shutdown –r now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1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Reboot</a:t>
            </a:r>
            <a:endParaRPr/>
          </a:p>
          <a:p>
            <a:pPr algn="l">
              <a:buFont typeface="Wingdings"/>
              <a:buChar char="§"/>
              <a:defRPr/>
            </a:pPr>
            <a:r>
              <a:rPr lang="en-US" sz="2000" b="0" i="1" u="none" strike="noStrike">
                <a:solidFill>
                  <a:srgbClr val="91C325"/>
                </a:solidFill>
                <a:latin typeface="Times New Roman"/>
                <a:cs typeface="Times New Roman"/>
              </a:rPr>
              <a:t> </a:t>
            </a:r>
            <a:r>
              <a:rPr lang="en-US" sz="2000" b="0" i="1" u="none" strike="noStrike">
                <a:solidFill>
                  <a:srgbClr val="404040"/>
                </a:solidFill>
                <a:latin typeface="Times New Roman"/>
                <a:cs typeface="Times New Roman"/>
              </a:rPr>
              <a:t>init 6</a:t>
            </a:r>
            <a:endParaRPr lang="en-US" i="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Words>920</Words>
  <Application>Microsoft Office PowerPoint</Application>
  <PresentationFormat>Widescreen</PresentationFormat>
  <Paragraphs>297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Algerian</vt:lpstr>
      <vt:lpstr>Arial</vt:lpstr>
      <vt:lpstr>Calibri</vt:lpstr>
      <vt:lpstr>Calibri Light</vt:lpstr>
      <vt:lpstr>CIDFont+F1</vt:lpstr>
      <vt:lpstr>CIDFont+F6</vt:lpstr>
      <vt:lpstr>Times New Roman</vt:lpstr>
      <vt:lpstr>Wingdings</vt:lpstr>
      <vt:lpstr>Office Theme</vt:lpstr>
      <vt:lpstr>1_Office Theme</vt:lpstr>
      <vt:lpstr>Linux introduction</vt:lpstr>
      <vt:lpstr>Operating Systems</vt:lpstr>
      <vt:lpstr>Linux Evolution</vt:lpstr>
      <vt:lpstr>Linux Evolution</vt:lpstr>
      <vt:lpstr>Key Components</vt:lpstr>
      <vt:lpstr>Roots in unix OS</vt:lpstr>
      <vt:lpstr>Features of Unix</vt:lpstr>
      <vt:lpstr>Features of Linux</vt:lpstr>
      <vt:lpstr>Features of Linux</vt:lpstr>
      <vt:lpstr>Linux Hardware </vt:lpstr>
      <vt:lpstr>Features of Linux</vt:lpstr>
      <vt:lpstr>Functions of Linux</vt:lpstr>
      <vt:lpstr>Linux Applications</vt:lpstr>
      <vt:lpstr>Linux used in</vt:lpstr>
      <vt:lpstr>Linux why</vt:lpstr>
      <vt:lpstr>Best Linux distribution</vt:lpstr>
      <vt:lpstr>Linux - disadvantages</vt:lpstr>
      <vt:lpstr>GNU &amp; GPL</vt:lpstr>
      <vt:lpstr>Relationship – GNU &amp; GPL</vt:lpstr>
      <vt:lpstr>Linux with GNU</vt:lpstr>
      <vt:lpstr>Linux with GNU</vt:lpstr>
      <vt:lpstr>Linux Architecture</vt:lpstr>
      <vt:lpstr>Linux Architecture</vt:lpstr>
      <vt:lpstr>Linux Architecture</vt:lpstr>
      <vt:lpstr>Linux Architecture</vt:lpstr>
      <vt:lpstr>Linux Shells</vt:lpstr>
      <vt:lpstr>Linux Filesystem</vt:lpstr>
      <vt:lpstr>Linux Filesystem characteristics</vt:lpstr>
      <vt:lpstr>Advanced features of FS</vt:lpstr>
      <vt:lpstr>Types of Filesystem</vt:lpstr>
      <vt:lpstr>FileSystem Comparison</vt:lpstr>
      <vt:lpstr>FS directory structure</vt:lpstr>
      <vt:lpstr>Linux Boot Process</vt:lpstr>
      <vt:lpstr>Linux boot Process</vt:lpstr>
      <vt:lpstr>Reboot/Shutdown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Evolution</dc:title>
  <dc:creator>Sreekantha BA</dc:creator>
  <cp:lastModifiedBy>Sreekantha BA</cp:lastModifiedBy>
  <cp:revision>73</cp:revision>
  <dcterms:created xsi:type="dcterms:W3CDTF">2026-02-23T08:36:44Z</dcterms:created>
  <dcterms:modified xsi:type="dcterms:W3CDTF">2026-09-09T08:10:47Z</dcterms:modified>
</cp:coreProperties>
</file>